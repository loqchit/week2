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5" r:id="rId40"/>
  </p:sldIdLst>
  <p:sldSz cx="12192000" cy="6858000"/>
  <p:notesSz cx="6797675" cy="9928225"/>
  <p:embeddedFontLst>
    <p:embeddedFont>
      <p:font typeface="Calibri" panose="020F0502020204030204" pitchFamily="34" charset="0"/>
      <p:regular r:id="rId42"/>
      <p:bold r:id="rId43"/>
      <p:italic r:id="rId44"/>
      <p:boldItalic r:id="rId45"/>
    </p:embeddedFont>
    <p:embeddedFont>
      <p:font typeface="Tahoma" panose="020B0604030504040204" pitchFamily="34" charset="0"/>
      <p:regular r:id="rId46"/>
      <p:bold r:id="rId4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8" roundtripDataSignature="AMtx7mjJ7QAKLTImLwUPQGp4J6z3MNthK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375751F-355D-4019-AC19-14266FEC0002}">
  <a:tblStyle styleId="{0375751F-355D-4019-AC19-14266FEC000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DE81663E-B441-499B-BE0B-ABA6145DA965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tcBdr/>
        <a:fill>
          <a:solidFill>
            <a:srgbClr val="CDD4E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DD4EA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354" y="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1.fntdata"/><Relationship Id="rId47" Type="http://schemas.openxmlformats.org/officeDocument/2006/relationships/font" Target="fonts/font6.fntdata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3.fntdata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2.fntdata"/><Relationship Id="rId48" Type="http://customschemas.google.com/relationships/presentationmetadata" Target="metadata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5.fntdata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45659" cy="498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50443" y="0"/>
            <a:ext cx="2945659" cy="498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422275" y="1241425"/>
            <a:ext cx="5953125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79768" y="4777958"/>
            <a:ext cx="5438140" cy="39092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430091"/>
            <a:ext cx="2945659" cy="498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50443" y="9430091"/>
            <a:ext cx="2945659" cy="498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4" name="Google Shape;114;p1:notes"/>
          <p:cNvSpPr txBox="1">
            <a:spLocks noGrp="1"/>
          </p:cNvSpPr>
          <p:nvPr>
            <p:ph type="body" idx="1"/>
          </p:nvPr>
        </p:nvSpPr>
        <p:spPr>
          <a:xfrm>
            <a:off x="679768" y="4777958"/>
            <a:ext cx="5438140" cy="39092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1:notes"/>
          <p:cNvSpPr txBox="1">
            <a:spLocks noGrp="1"/>
          </p:cNvSpPr>
          <p:nvPr>
            <p:ph type="sldNum" idx="12"/>
          </p:nvPr>
        </p:nvSpPr>
        <p:spPr>
          <a:xfrm>
            <a:off x="3850443" y="9430091"/>
            <a:ext cx="2945659" cy="498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4" name="Google Shape;124;p2:notes"/>
          <p:cNvSpPr txBox="1">
            <a:spLocks noGrp="1"/>
          </p:cNvSpPr>
          <p:nvPr>
            <p:ph type="body" idx="1"/>
          </p:nvPr>
        </p:nvSpPr>
        <p:spPr>
          <a:xfrm>
            <a:off x="679768" y="4777958"/>
            <a:ext cx="5438140" cy="39092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2:notes"/>
          <p:cNvSpPr txBox="1">
            <a:spLocks noGrp="1"/>
          </p:cNvSpPr>
          <p:nvPr>
            <p:ph type="sldNum" idx="12"/>
          </p:nvPr>
        </p:nvSpPr>
        <p:spPr>
          <a:xfrm>
            <a:off x="3850443" y="9430091"/>
            <a:ext cx="2945659" cy="498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2" name="Google Shape;132;p3:notes"/>
          <p:cNvSpPr txBox="1">
            <a:spLocks noGrp="1"/>
          </p:cNvSpPr>
          <p:nvPr>
            <p:ph type="body" idx="1"/>
          </p:nvPr>
        </p:nvSpPr>
        <p:spPr>
          <a:xfrm>
            <a:off x="679768" y="4777958"/>
            <a:ext cx="5438140" cy="39092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3:notes"/>
          <p:cNvSpPr txBox="1">
            <a:spLocks noGrp="1"/>
          </p:cNvSpPr>
          <p:nvPr>
            <p:ph type="sldNum" idx="12"/>
          </p:nvPr>
        </p:nvSpPr>
        <p:spPr>
          <a:xfrm>
            <a:off x="3850443" y="9430091"/>
            <a:ext cx="2945659" cy="498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0" name="Google Shape;140;p4:notes"/>
          <p:cNvSpPr txBox="1">
            <a:spLocks noGrp="1"/>
          </p:cNvSpPr>
          <p:nvPr>
            <p:ph type="body" idx="1"/>
          </p:nvPr>
        </p:nvSpPr>
        <p:spPr>
          <a:xfrm>
            <a:off x="679768" y="4777958"/>
            <a:ext cx="5438140" cy="39092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4:notes"/>
          <p:cNvSpPr txBox="1">
            <a:spLocks noGrp="1"/>
          </p:cNvSpPr>
          <p:nvPr>
            <p:ph type="sldNum" idx="12"/>
          </p:nvPr>
        </p:nvSpPr>
        <p:spPr>
          <a:xfrm>
            <a:off x="3850443" y="9430091"/>
            <a:ext cx="2945659" cy="498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9" name="Google Shape;149;p5:notes"/>
          <p:cNvSpPr txBox="1">
            <a:spLocks noGrp="1"/>
          </p:cNvSpPr>
          <p:nvPr>
            <p:ph type="body" idx="1"/>
          </p:nvPr>
        </p:nvSpPr>
        <p:spPr>
          <a:xfrm>
            <a:off x="679768" y="4777958"/>
            <a:ext cx="5438140" cy="39092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5:notes"/>
          <p:cNvSpPr txBox="1">
            <a:spLocks noGrp="1"/>
          </p:cNvSpPr>
          <p:nvPr>
            <p:ph type="sldNum" idx="12"/>
          </p:nvPr>
        </p:nvSpPr>
        <p:spPr>
          <a:xfrm>
            <a:off x="3850443" y="9430091"/>
            <a:ext cx="2945659" cy="498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8" name="Google Shape;158;p6:notes"/>
          <p:cNvSpPr txBox="1">
            <a:spLocks noGrp="1"/>
          </p:cNvSpPr>
          <p:nvPr>
            <p:ph type="body" idx="1"/>
          </p:nvPr>
        </p:nvSpPr>
        <p:spPr>
          <a:xfrm>
            <a:off x="679768" y="4777958"/>
            <a:ext cx="5438140" cy="39092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6:notes"/>
          <p:cNvSpPr txBox="1">
            <a:spLocks noGrp="1"/>
          </p:cNvSpPr>
          <p:nvPr>
            <p:ph type="sldNum" idx="12"/>
          </p:nvPr>
        </p:nvSpPr>
        <p:spPr>
          <a:xfrm>
            <a:off x="3850443" y="9430091"/>
            <a:ext cx="2945659" cy="498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7" name="Google Shape;167;p7:notes"/>
          <p:cNvSpPr txBox="1">
            <a:spLocks noGrp="1"/>
          </p:cNvSpPr>
          <p:nvPr>
            <p:ph type="body" idx="1"/>
          </p:nvPr>
        </p:nvSpPr>
        <p:spPr>
          <a:xfrm>
            <a:off x="679768" y="4777958"/>
            <a:ext cx="5438140" cy="39092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7:notes"/>
          <p:cNvSpPr txBox="1">
            <a:spLocks noGrp="1"/>
          </p:cNvSpPr>
          <p:nvPr>
            <p:ph type="sldNum" idx="12"/>
          </p:nvPr>
        </p:nvSpPr>
        <p:spPr>
          <a:xfrm>
            <a:off x="3850443" y="9430091"/>
            <a:ext cx="2945659" cy="498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5" name="Google Shape;175;p8:notes"/>
          <p:cNvSpPr txBox="1">
            <a:spLocks noGrp="1"/>
          </p:cNvSpPr>
          <p:nvPr>
            <p:ph type="body" idx="1"/>
          </p:nvPr>
        </p:nvSpPr>
        <p:spPr>
          <a:xfrm>
            <a:off x="679768" y="4777958"/>
            <a:ext cx="5438140" cy="39092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8:notes"/>
          <p:cNvSpPr txBox="1">
            <a:spLocks noGrp="1"/>
          </p:cNvSpPr>
          <p:nvPr>
            <p:ph type="sldNum" idx="12"/>
          </p:nvPr>
        </p:nvSpPr>
        <p:spPr>
          <a:xfrm>
            <a:off x="3850443" y="9430091"/>
            <a:ext cx="2945659" cy="498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3" name="Google Shape;183;p9:notes"/>
          <p:cNvSpPr txBox="1">
            <a:spLocks noGrp="1"/>
          </p:cNvSpPr>
          <p:nvPr>
            <p:ph type="body" idx="1"/>
          </p:nvPr>
        </p:nvSpPr>
        <p:spPr>
          <a:xfrm>
            <a:off x="679768" y="4777958"/>
            <a:ext cx="5438140" cy="39092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9:notes"/>
          <p:cNvSpPr txBox="1">
            <a:spLocks noGrp="1"/>
          </p:cNvSpPr>
          <p:nvPr>
            <p:ph type="sldNum" idx="12"/>
          </p:nvPr>
        </p:nvSpPr>
        <p:spPr>
          <a:xfrm>
            <a:off x="3850443" y="9430091"/>
            <a:ext cx="2945659" cy="498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1" name="Google Shape;191;p10:notes"/>
          <p:cNvSpPr txBox="1">
            <a:spLocks noGrp="1"/>
          </p:cNvSpPr>
          <p:nvPr>
            <p:ph type="body" idx="1"/>
          </p:nvPr>
        </p:nvSpPr>
        <p:spPr>
          <a:xfrm>
            <a:off x="679768" y="4777958"/>
            <a:ext cx="5438140" cy="39092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10:notes"/>
          <p:cNvSpPr txBox="1">
            <a:spLocks noGrp="1"/>
          </p:cNvSpPr>
          <p:nvPr>
            <p:ph type="sldNum" idx="12"/>
          </p:nvPr>
        </p:nvSpPr>
        <p:spPr>
          <a:xfrm>
            <a:off x="3850443" y="9430091"/>
            <a:ext cx="2945659" cy="498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8" name="Google Shape;208;p11:notes"/>
          <p:cNvSpPr txBox="1">
            <a:spLocks noGrp="1"/>
          </p:cNvSpPr>
          <p:nvPr>
            <p:ph type="body" idx="1"/>
          </p:nvPr>
        </p:nvSpPr>
        <p:spPr>
          <a:xfrm>
            <a:off x="679768" y="4777958"/>
            <a:ext cx="5438140" cy="39092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11:notes"/>
          <p:cNvSpPr txBox="1">
            <a:spLocks noGrp="1"/>
          </p:cNvSpPr>
          <p:nvPr>
            <p:ph type="sldNum" idx="12"/>
          </p:nvPr>
        </p:nvSpPr>
        <p:spPr>
          <a:xfrm>
            <a:off x="3850443" y="9430091"/>
            <a:ext cx="2945659" cy="498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6" name="Google Shape;216;p12:notes"/>
          <p:cNvSpPr txBox="1">
            <a:spLocks noGrp="1"/>
          </p:cNvSpPr>
          <p:nvPr>
            <p:ph type="body" idx="1"/>
          </p:nvPr>
        </p:nvSpPr>
        <p:spPr>
          <a:xfrm>
            <a:off x="679768" y="4777958"/>
            <a:ext cx="5438140" cy="39092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12:notes"/>
          <p:cNvSpPr txBox="1">
            <a:spLocks noGrp="1"/>
          </p:cNvSpPr>
          <p:nvPr>
            <p:ph type="sldNum" idx="12"/>
          </p:nvPr>
        </p:nvSpPr>
        <p:spPr>
          <a:xfrm>
            <a:off x="3850443" y="9430091"/>
            <a:ext cx="2945659" cy="498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3" name="Google Shape;233;p13:notes"/>
          <p:cNvSpPr txBox="1">
            <a:spLocks noGrp="1"/>
          </p:cNvSpPr>
          <p:nvPr>
            <p:ph type="body" idx="1"/>
          </p:nvPr>
        </p:nvSpPr>
        <p:spPr>
          <a:xfrm>
            <a:off x="679768" y="4777958"/>
            <a:ext cx="5438140" cy="39092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13:notes"/>
          <p:cNvSpPr txBox="1">
            <a:spLocks noGrp="1"/>
          </p:cNvSpPr>
          <p:nvPr>
            <p:ph type="sldNum" idx="12"/>
          </p:nvPr>
        </p:nvSpPr>
        <p:spPr>
          <a:xfrm>
            <a:off x="3850443" y="9430091"/>
            <a:ext cx="2945659" cy="498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1" name="Google Shape;241;p14:notes"/>
          <p:cNvSpPr txBox="1">
            <a:spLocks noGrp="1"/>
          </p:cNvSpPr>
          <p:nvPr>
            <p:ph type="body" idx="1"/>
          </p:nvPr>
        </p:nvSpPr>
        <p:spPr>
          <a:xfrm>
            <a:off x="679768" y="4777958"/>
            <a:ext cx="5438140" cy="39092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p14:notes"/>
          <p:cNvSpPr txBox="1">
            <a:spLocks noGrp="1"/>
          </p:cNvSpPr>
          <p:nvPr>
            <p:ph type="sldNum" idx="12"/>
          </p:nvPr>
        </p:nvSpPr>
        <p:spPr>
          <a:xfrm>
            <a:off x="3850443" y="9430091"/>
            <a:ext cx="2945659" cy="498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9" name="Google Shape;249;p15:notes"/>
          <p:cNvSpPr txBox="1">
            <a:spLocks noGrp="1"/>
          </p:cNvSpPr>
          <p:nvPr>
            <p:ph type="body" idx="1"/>
          </p:nvPr>
        </p:nvSpPr>
        <p:spPr>
          <a:xfrm>
            <a:off x="679768" y="4777958"/>
            <a:ext cx="5438140" cy="39092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p15:notes"/>
          <p:cNvSpPr txBox="1">
            <a:spLocks noGrp="1"/>
          </p:cNvSpPr>
          <p:nvPr>
            <p:ph type="sldNum" idx="12"/>
          </p:nvPr>
        </p:nvSpPr>
        <p:spPr>
          <a:xfrm>
            <a:off x="3850443" y="9430091"/>
            <a:ext cx="2945659" cy="498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7" name="Google Shape;257;p16:notes"/>
          <p:cNvSpPr txBox="1">
            <a:spLocks noGrp="1"/>
          </p:cNvSpPr>
          <p:nvPr>
            <p:ph type="body" idx="1"/>
          </p:nvPr>
        </p:nvSpPr>
        <p:spPr>
          <a:xfrm>
            <a:off x="679768" y="4777958"/>
            <a:ext cx="5438140" cy="39092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p16:notes"/>
          <p:cNvSpPr txBox="1">
            <a:spLocks noGrp="1"/>
          </p:cNvSpPr>
          <p:nvPr>
            <p:ph type="sldNum" idx="12"/>
          </p:nvPr>
        </p:nvSpPr>
        <p:spPr>
          <a:xfrm>
            <a:off x="3850443" y="9430091"/>
            <a:ext cx="2945659" cy="498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5" name="Google Shape;265;p17:notes"/>
          <p:cNvSpPr txBox="1">
            <a:spLocks noGrp="1"/>
          </p:cNvSpPr>
          <p:nvPr>
            <p:ph type="body" idx="1"/>
          </p:nvPr>
        </p:nvSpPr>
        <p:spPr>
          <a:xfrm>
            <a:off x="679768" y="4777958"/>
            <a:ext cx="5438140" cy="39092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p17:notes"/>
          <p:cNvSpPr txBox="1">
            <a:spLocks noGrp="1"/>
          </p:cNvSpPr>
          <p:nvPr>
            <p:ph type="sldNum" idx="12"/>
          </p:nvPr>
        </p:nvSpPr>
        <p:spPr>
          <a:xfrm>
            <a:off x="3850443" y="9430091"/>
            <a:ext cx="2945659" cy="498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3" name="Google Shape;273;p18:notes"/>
          <p:cNvSpPr txBox="1">
            <a:spLocks noGrp="1"/>
          </p:cNvSpPr>
          <p:nvPr>
            <p:ph type="body" idx="1"/>
          </p:nvPr>
        </p:nvSpPr>
        <p:spPr>
          <a:xfrm>
            <a:off x="679768" y="4777958"/>
            <a:ext cx="5438140" cy="39092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Complement: số bù</a:t>
            </a:r>
            <a:endParaRPr/>
          </a:p>
        </p:txBody>
      </p:sp>
      <p:sp>
        <p:nvSpPr>
          <p:cNvPr id="274" name="Google Shape;274;p18:notes"/>
          <p:cNvSpPr txBox="1">
            <a:spLocks noGrp="1"/>
          </p:cNvSpPr>
          <p:nvPr>
            <p:ph type="sldNum" idx="12"/>
          </p:nvPr>
        </p:nvSpPr>
        <p:spPr>
          <a:xfrm>
            <a:off x="3850443" y="9430091"/>
            <a:ext cx="2945659" cy="498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5" name="Google Shape;285;p19:notes"/>
          <p:cNvSpPr txBox="1">
            <a:spLocks noGrp="1"/>
          </p:cNvSpPr>
          <p:nvPr>
            <p:ph type="body" idx="1"/>
          </p:nvPr>
        </p:nvSpPr>
        <p:spPr>
          <a:xfrm>
            <a:off x="679768" y="4777958"/>
            <a:ext cx="5438140" cy="39092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6" name="Google Shape;286;p19:notes"/>
          <p:cNvSpPr txBox="1">
            <a:spLocks noGrp="1"/>
          </p:cNvSpPr>
          <p:nvPr>
            <p:ph type="sldNum" idx="12"/>
          </p:nvPr>
        </p:nvSpPr>
        <p:spPr>
          <a:xfrm>
            <a:off x="3850443" y="9430091"/>
            <a:ext cx="2945659" cy="498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3" name="Google Shape;293;p20:notes"/>
          <p:cNvSpPr txBox="1">
            <a:spLocks noGrp="1"/>
          </p:cNvSpPr>
          <p:nvPr>
            <p:ph type="body" idx="1"/>
          </p:nvPr>
        </p:nvSpPr>
        <p:spPr>
          <a:xfrm>
            <a:off x="679768" y="4777958"/>
            <a:ext cx="5438140" cy="39092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4" name="Google Shape;294;p20:notes"/>
          <p:cNvSpPr txBox="1">
            <a:spLocks noGrp="1"/>
          </p:cNvSpPr>
          <p:nvPr>
            <p:ph type="sldNum" idx="12"/>
          </p:nvPr>
        </p:nvSpPr>
        <p:spPr>
          <a:xfrm>
            <a:off x="3850443" y="9430091"/>
            <a:ext cx="2945659" cy="498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1" name="Google Shape;301;p21:notes"/>
          <p:cNvSpPr txBox="1">
            <a:spLocks noGrp="1"/>
          </p:cNvSpPr>
          <p:nvPr>
            <p:ph type="body" idx="1"/>
          </p:nvPr>
        </p:nvSpPr>
        <p:spPr>
          <a:xfrm>
            <a:off x="679768" y="4777958"/>
            <a:ext cx="5438140" cy="39092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2" name="Google Shape;302;p21:notes"/>
          <p:cNvSpPr txBox="1">
            <a:spLocks noGrp="1"/>
          </p:cNvSpPr>
          <p:nvPr>
            <p:ph type="sldNum" idx="12"/>
          </p:nvPr>
        </p:nvSpPr>
        <p:spPr>
          <a:xfrm>
            <a:off x="3850443" y="9430091"/>
            <a:ext cx="2945659" cy="498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1" name="Google Shape;311;p22:notes"/>
          <p:cNvSpPr txBox="1">
            <a:spLocks noGrp="1"/>
          </p:cNvSpPr>
          <p:nvPr>
            <p:ph type="body" idx="1"/>
          </p:nvPr>
        </p:nvSpPr>
        <p:spPr>
          <a:xfrm>
            <a:off x="679768" y="4777958"/>
            <a:ext cx="5438140" cy="39092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2" name="Google Shape;312;p22:notes"/>
          <p:cNvSpPr txBox="1">
            <a:spLocks noGrp="1"/>
          </p:cNvSpPr>
          <p:nvPr>
            <p:ph type="sldNum" idx="12"/>
          </p:nvPr>
        </p:nvSpPr>
        <p:spPr>
          <a:xfrm>
            <a:off x="3850443" y="9430091"/>
            <a:ext cx="2945659" cy="498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9" name="Google Shape;319;p23:notes"/>
          <p:cNvSpPr txBox="1">
            <a:spLocks noGrp="1"/>
          </p:cNvSpPr>
          <p:nvPr>
            <p:ph type="body" idx="1"/>
          </p:nvPr>
        </p:nvSpPr>
        <p:spPr>
          <a:xfrm>
            <a:off x="679768" y="4777958"/>
            <a:ext cx="5438140" cy="39092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0" name="Google Shape;320;p23:notes"/>
          <p:cNvSpPr txBox="1">
            <a:spLocks noGrp="1"/>
          </p:cNvSpPr>
          <p:nvPr>
            <p:ph type="sldNum" idx="12"/>
          </p:nvPr>
        </p:nvSpPr>
        <p:spPr>
          <a:xfrm>
            <a:off x="3850443" y="9430091"/>
            <a:ext cx="2945659" cy="498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7" name="Google Shape;327;p24:notes"/>
          <p:cNvSpPr txBox="1">
            <a:spLocks noGrp="1"/>
          </p:cNvSpPr>
          <p:nvPr>
            <p:ph type="body" idx="1"/>
          </p:nvPr>
        </p:nvSpPr>
        <p:spPr>
          <a:xfrm>
            <a:off x="679768" y="4777958"/>
            <a:ext cx="5438140" cy="39092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8" name="Google Shape;328;p24:notes"/>
          <p:cNvSpPr txBox="1">
            <a:spLocks noGrp="1"/>
          </p:cNvSpPr>
          <p:nvPr>
            <p:ph type="sldNum" idx="12"/>
          </p:nvPr>
        </p:nvSpPr>
        <p:spPr>
          <a:xfrm>
            <a:off x="3850443" y="9430091"/>
            <a:ext cx="2945659" cy="498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6" name="Google Shape;336;p25:notes"/>
          <p:cNvSpPr txBox="1">
            <a:spLocks noGrp="1"/>
          </p:cNvSpPr>
          <p:nvPr>
            <p:ph type="body" idx="1"/>
          </p:nvPr>
        </p:nvSpPr>
        <p:spPr>
          <a:xfrm>
            <a:off x="679768" y="4777958"/>
            <a:ext cx="5438140" cy="39092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7" name="Google Shape;337;p25:notes"/>
          <p:cNvSpPr txBox="1">
            <a:spLocks noGrp="1"/>
          </p:cNvSpPr>
          <p:nvPr>
            <p:ph type="sldNum" idx="12"/>
          </p:nvPr>
        </p:nvSpPr>
        <p:spPr>
          <a:xfrm>
            <a:off x="3850443" y="9430091"/>
            <a:ext cx="2945659" cy="498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4" name="Google Shape;344;p26:notes"/>
          <p:cNvSpPr txBox="1">
            <a:spLocks noGrp="1"/>
          </p:cNvSpPr>
          <p:nvPr>
            <p:ph type="body" idx="1"/>
          </p:nvPr>
        </p:nvSpPr>
        <p:spPr>
          <a:xfrm>
            <a:off x="679768" y="4777958"/>
            <a:ext cx="5438140" cy="39092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5" name="Google Shape;345;p26:notes"/>
          <p:cNvSpPr txBox="1">
            <a:spLocks noGrp="1"/>
          </p:cNvSpPr>
          <p:nvPr>
            <p:ph type="sldNum" idx="12"/>
          </p:nvPr>
        </p:nvSpPr>
        <p:spPr>
          <a:xfrm>
            <a:off x="3850443" y="9430091"/>
            <a:ext cx="2945659" cy="498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2" name="Google Shape;352;p27:notes"/>
          <p:cNvSpPr txBox="1">
            <a:spLocks noGrp="1"/>
          </p:cNvSpPr>
          <p:nvPr>
            <p:ph type="body" idx="1"/>
          </p:nvPr>
        </p:nvSpPr>
        <p:spPr>
          <a:xfrm>
            <a:off x="679768" y="4777958"/>
            <a:ext cx="5438140" cy="39092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3" name="Google Shape;353;p27:notes"/>
          <p:cNvSpPr txBox="1">
            <a:spLocks noGrp="1"/>
          </p:cNvSpPr>
          <p:nvPr>
            <p:ph type="sldNum" idx="12"/>
          </p:nvPr>
        </p:nvSpPr>
        <p:spPr>
          <a:xfrm>
            <a:off x="3850443" y="9430091"/>
            <a:ext cx="2945659" cy="498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0" name="Google Shape;360;p28:notes"/>
          <p:cNvSpPr txBox="1">
            <a:spLocks noGrp="1"/>
          </p:cNvSpPr>
          <p:nvPr>
            <p:ph type="body" idx="1"/>
          </p:nvPr>
        </p:nvSpPr>
        <p:spPr>
          <a:xfrm>
            <a:off x="679768" y="4777958"/>
            <a:ext cx="5438140" cy="39092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1" name="Google Shape;361;p28:notes"/>
          <p:cNvSpPr txBox="1">
            <a:spLocks noGrp="1"/>
          </p:cNvSpPr>
          <p:nvPr>
            <p:ph type="sldNum" idx="12"/>
          </p:nvPr>
        </p:nvSpPr>
        <p:spPr>
          <a:xfrm>
            <a:off x="3850443" y="9430091"/>
            <a:ext cx="2945659" cy="498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8" name="Google Shape;368;p29:notes"/>
          <p:cNvSpPr txBox="1">
            <a:spLocks noGrp="1"/>
          </p:cNvSpPr>
          <p:nvPr>
            <p:ph type="body" idx="1"/>
          </p:nvPr>
        </p:nvSpPr>
        <p:spPr>
          <a:xfrm>
            <a:off x="679768" y="4777958"/>
            <a:ext cx="5438140" cy="39092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9" name="Google Shape;369;p29:notes"/>
          <p:cNvSpPr txBox="1">
            <a:spLocks noGrp="1"/>
          </p:cNvSpPr>
          <p:nvPr>
            <p:ph type="sldNum" idx="12"/>
          </p:nvPr>
        </p:nvSpPr>
        <p:spPr>
          <a:xfrm>
            <a:off x="3850443" y="9430091"/>
            <a:ext cx="2945659" cy="498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6" name="Google Shape;376;p30:notes"/>
          <p:cNvSpPr txBox="1">
            <a:spLocks noGrp="1"/>
          </p:cNvSpPr>
          <p:nvPr>
            <p:ph type="body" idx="1"/>
          </p:nvPr>
        </p:nvSpPr>
        <p:spPr>
          <a:xfrm>
            <a:off x="679768" y="4777958"/>
            <a:ext cx="5438140" cy="39092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7" name="Google Shape;377;p30:notes"/>
          <p:cNvSpPr txBox="1">
            <a:spLocks noGrp="1"/>
          </p:cNvSpPr>
          <p:nvPr>
            <p:ph type="sldNum" idx="12"/>
          </p:nvPr>
        </p:nvSpPr>
        <p:spPr>
          <a:xfrm>
            <a:off x="3850443" y="9430091"/>
            <a:ext cx="2945659" cy="498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4" name="Google Shape;384;p31:notes"/>
          <p:cNvSpPr txBox="1">
            <a:spLocks noGrp="1"/>
          </p:cNvSpPr>
          <p:nvPr>
            <p:ph type="body" idx="1"/>
          </p:nvPr>
        </p:nvSpPr>
        <p:spPr>
          <a:xfrm>
            <a:off x="679768" y="4777958"/>
            <a:ext cx="5438140" cy="39092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5" name="Google Shape;385;p31:notes"/>
          <p:cNvSpPr txBox="1">
            <a:spLocks noGrp="1"/>
          </p:cNvSpPr>
          <p:nvPr>
            <p:ph type="sldNum" idx="12"/>
          </p:nvPr>
        </p:nvSpPr>
        <p:spPr>
          <a:xfrm>
            <a:off x="3850443" y="9430091"/>
            <a:ext cx="2945659" cy="498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31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3" name="Google Shape;393;p32:notes"/>
          <p:cNvSpPr txBox="1">
            <a:spLocks noGrp="1"/>
          </p:cNvSpPr>
          <p:nvPr>
            <p:ph type="body" idx="1"/>
          </p:nvPr>
        </p:nvSpPr>
        <p:spPr>
          <a:xfrm>
            <a:off x="679768" y="4777958"/>
            <a:ext cx="5438140" cy="39092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" name="Google Shape;394;p32:notes"/>
          <p:cNvSpPr txBox="1">
            <a:spLocks noGrp="1"/>
          </p:cNvSpPr>
          <p:nvPr>
            <p:ph type="sldNum" idx="12"/>
          </p:nvPr>
        </p:nvSpPr>
        <p:spPr>
          <a:xfrm>
            <a:off x="3850443" y="9430091"/>
            <a:ext cx="2945659" cy="498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32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2" name="Google Shape;402;p33:notes"/>
          <p:cNvSpPr txBox="1">
            <a:spLocks noGrp="1"/>
          </p:cNvSpPr>
          <p:nvPr>
            <p:ph type="body" idx="1"/>
          </p:nvPr>
        </p:nvSpPr>
        <p:spPr>
          <a:xfrm>
            <a:off x="679768" y="4777958"/>
            <a:ext cx="5438140" cy="39092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3" name="Google Shape;403;p33:notes"/>
          <p:cNvSpPr txBox="1">
            <a:spLocks noGrp="1"/>
          </p:cNvSpPr>
          <p:nvPr>
            <p:ph type="sldNum" idx="12"/>
          </p:nvPr>
        </p:nvSpPr>
        <p:spPr>
          <a:xfrm>
            <a:off x="3850443" y="9430091"/>
            <a:ext cx="2945659" cy="498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33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0" name="Google Shape;410;p34:notes"/>
          <p:cNvSpPr txBox="1">
            <a:spLocks noGrp="1"/>
          </p:cNvSpPr>
          <p:nvPr>
            <p:ph type="body" idx="1"/>
          </p:nvPr>
        </p:nvSpPr>
        <p:spPr>
          <a:xfrm>
            <a:off x="679768" y="4777958"/>
            <a:ext cx="5438140" cy="39092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1" name="Google Shape;411;p34:notes"/>
          <p:cNvSpPr txBox="1">
            <a:spLocks noGrp="1"/>
          </p:cNvSpPr>
          <p:nvPr>
            <p:ph type="sldNum" idx="12"/>
          </p:nvPr>
        </p:nvSpPr>
        <p:spPr>
          <a:xfrm>
            <a:off x="3850443" y="9430091"/>
            <a:ext cx="2945659" cy="498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34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6" name="Google Shape;496;p35:notes"/>
          <p:cNvSpPr txBox="1">
            <a:spLocks noGrp="1"/>
          </p:cNvSpPr>
          <p:nvPr>
            <p:ph type="body" idx="1"/>
          </p:nvPr>
        </p:nvSpPr>
        <p:spPr>
          <a:xfrm>
            <a:off x="679768" y="4777958"/>
            <a:ext cx="5438140" cy="39092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7" name="Google Shape;497;p35:notes"/>
          <p:cNvSpPr txBox="1">
            <a:spLocks noGrp="1"/>
          </p:cNvSpPr>
          <p:nvPr>
            <p:ph type="sldNum" idx="12"/>
          </p:nvPr>
        </p:nvSpPr>
        <p:spPr>
          <a:xfrm>
            <a:off x="3850443" y="9430091"/>
            <a:ext cx="2945659" cy="498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35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4" name="Google Shape;504;p36:notes"/>
          <p:cNvSpPr txBox="1">
            <a:spLocks noGrp="1"/>
          </p:cNvSpPr>
          <p:nvPr>
            <p:ph type="body" idx="1"/>
          </p:nvPr>
        </p:nvSpPr>
        <p:spPr>
          <a:xfrm>
            <a:off x="679768" y="4777958"/>
            <a:ext cx="5438140" cy="39092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5" name="Google Shape;505;p36:notes"/>
          <p:cNvSpPr txBox="1">
            <a:spLocks noGrp="1"/>
          </p:cNvSpPr>
          <p:nvPr>
            <p:ph type="sldNum" idx="12"/>
          </p:nvPr>
        </p:nvSpPr>
        <p:spPr>
          <a:xfrm>
            <a:off x="3850443" y="9430091"/>
            <a:ext cx="2945659" cy="498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36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2" name="Google Shape;512;p37:notes"/>
          <p:cNvSpPr txBox="1">
            <a:spLocks noGrp="1"/>
          </p:cNvSpPr>
          <p:nvPr>
            <p:ph type="body" idx="1"/>
          </p:nvPr>
        </p:nvSpPr>
        <p:spPr>
          <a:xfrm>
            <a:off x="679768" y="4777958"/>
            <a:ext cx="5438140" cy="39092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3" name="Google Shape;513;p37:notes"/>
          <p:cNvSpPr txBox="1">
            <a:spLocks noGrp="1"/>
          </p:cNvSpPr>
          <p:nvPr>
            <p:ph type="sldNum" idx="12"/>
          </p:nvPr>
        </p:nvSpPr>
        <p:spPr>
          <a:xfrm>
            <a:off x="3850443" y="9430091"/>
            <a:ext cx="2945659" cy="498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37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0" name="Google Shape;520;p38:notes"/>
          <p:cNvSpPr txBox="1">
            <a:spLocks noGrp="1"/>
          </p:cNvSpPr>
          <p:nvPr>
            <p:ph type="body" idx="1"/>
          </p:nvPr>
        </p:nvSpPr>
        <p:spPr>
          <a:xfrm>
            <a:off x="679768" y="4777958"/>
            <a:ext cx="5438140" cy="39092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1" name="Google Shape;521;p38:notes"/>
          <p:cNvSpPr txBox="1">
            <a:spLocks noGrp="1"/>
          </p:cNvSpPr>
          <p:nvPr>
            <p:ph type="sldNum" idx="12"/>
          </p:nvPr>
        </p:nvSpPr>
        <p:spPr>
          <a:xfrm>
            <a:off x="3850443" y="9430091"/>
            <a:ext cx="2945659" cy="498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38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gi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4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4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1" name="Google Shape;21;p41" descr="A picture containing drawing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4265536" cy="10224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2;p4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281928"/>
            <a:ext cx="12192000" cy="5760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>
  <p:cSld name="1_Title and Conten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" name="Google Shape;25;p4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4800">
                <a:solidFill>
                  <a:srgbClr val="0070C0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r>
              <a:rPr lang="en-US" smtClean="0"/>
              <a:t>/ 39</a:t>
            </a:r>
            <a:endParaRPr lang="en-US" dirty="0"/>
          </a:p>
        </p:txBody>
      </p:sp>
      <p:pic>
        <p:nvPicPr>
          <p:cNvPr id="29" name="Google Shape;29;p42" descr="A picture containing red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999241"/>
          </a:xfrm>
          <a:prstGeom prst="rect">
            <a:avLst/>
          </a:prstGeom>
          <a:noFill/>
          <a:ln>
            <a:noFill/>
          </a:ln>
        </p:spPr>
      </p:pic>
      <p:pic>
        <p:nvPicPr>
          <p:cNvPr id="30" name="Google Shape;30;p4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444140" y="95861"/>
            <a:ext cx="649942" cy="837213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6058459"/>
            <a:ext cx="1053010" cy="5957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4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4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5" name="Google Shape;35;p43" descr="A picture containing drawing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4265536" cy="1022477"/>
          </a:xfrm>
          <a:prstGeom prst="rect">
            <a:avLst/>
          </a:prstGeom>
          <a:noFill/>
          <a:ln>
            <a:noFill/>
          </a:ln>
        </p:spPr>
      </p:pic>
      <p:pic>
        <p:nvPicPr>
          <p:cNvPr id="36" name="Google Shape;36;p4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281928"/>
            <a:ext cx="12192000" cy="5760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4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4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0" name="Google Shape;40;p4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4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4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3" name="Google Shape;43;p44" descr="A picture containing drawing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4265536" cy="1022477"/>
          </a:xfrm>
          <a:prstGeom prst="rect">
            <a:avLst/>
          </a:prstGeom>
          <a:noFill/>
          <a:ln>
            <a:noFill/>
          </a:ln>
        </p:spPr>
      </p:pic>
      <p:pic>
        <p:nvPicPr>
          <p:cNvPr id="44" name="Google Shape;44;p4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281928"/>
            <a:ext cx="12192000" cy="5760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4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4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4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4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4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4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2" name="Google Shape;52;p45" descr="A picture containing drawing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4265536" cy="1022477"/>
          </a:xfrm>
          <a:prstGeom prst="rect">
            <a:avLst/>
          </a:prstGeom>
          <a:noFill/>
          <a:ln>
            <a:noFill/>
          </a:ln>
        </p:spPr>
      </p:pic>
      <p:pic>
        <p:nvPicPr>
          <p:cNvPr id="53" name="Google Shape;53;p4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281928"/>
            <a:ext cx="12192000" cy="5760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4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7" name="Google Shape;57;p4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8" name="Google Shape;58;p4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9" name="Google Shape;59;p4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0" name="Google Shape;60;p4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4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4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3" name="Google Shape;63;p46" descr="A picture containing drawing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4265536" cy="1022477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4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281928"/>
            <a:ext cx="12192000" cy="5760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4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4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4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70" name="Google Shape;70;p47" descr="A picture containing drawing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4265536" cy="1022477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4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281928"/>
            <a:ext cx="12192000" cy="5760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4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4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76" name="Google Shape;76;p48" descr="A picture containing drawing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4265536" cy="1022477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4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281928"/>
            <a:ext cx="12192000" cy="5760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4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81" name="Google Shape;81;p4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82" name="Google Shape;82;p4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4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4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85" name="Google Shape;85;p49" descr="A picture containing drawing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4265536" cy="1022477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4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281928"/>
            <a:ext cx="12192000" cy="5760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5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5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90" name="Google Shape;90;p5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91" name="Google Shape;91;p5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5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5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4" name="Google Shape;94;p50" descr="A picture containing drawing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4265536" cy="10224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5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281928"/>
            <a:ext cx="12192000" cy="5760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5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5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9" name="Google Shape;99;p5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5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5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02" name="Google Shape;102;p51" descr="A picture containing drawing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4265536" cy="10224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5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281928"/>
            <a:ext cx="12192000" cy="5760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5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7" name="Google Shape;107;p5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5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5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0" name="Google Shape;110;p52" descr="A picture containing drawing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4265536" cy="10224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5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281928"/>
            <a:ext cx="12192000" cy="5760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4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4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4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4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1" descr="A picture containing red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152704"/>
            <a:ext cx="12192000" cy="3208867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"/>
          <p:cNvSpPr txBox="1"/>
          <p:nvPr/>
        </p:nvSpPr>
        <p:spPr>
          <a:xfrm>
            <a:off x="3496375" y="4592265"/>
            <a:ext cx="8695625" cy="8233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2400" b="1" i="0" u="none" strike="noStrike" cap="non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1"/>
          <p:cNvSpPr txBox="1"/>
          <p:nvPr/>
        </p:nvSpPr>
        <p:spPr>
          <a:xfrm>
            <a:off x="0" y="2018045"/>
            <a:ext cx="12192000" cy="14781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INTRODUCTION TO COMPUTING AND PROGRAMMING</a:t>
            </a:r>
            <a:br>
              <a:rPr lang="en-US" sz="3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3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Basic data types in C Programming Language </a:t>
            </a:r>
            <a:endParaRPr/>
          </a:p>
        </p:txBody>
      </p:sp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"/>
          <p:cNvSpPr txBox="1"/>
          <p:nvPr/>
        </p:nvSpPr>
        <p:spPr>
          <a:xfrm>
            <a:off x="337943" y="255556"/>
            <a:ext cx="6858000" cy="943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Contents</a:t>
            </a:r>
            <a:endParaRPr sz="32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2"/>
          <p:cNvSpPr txBox="1">
            <a:spLocks noGrp="1"/>
          </p:cNvSpPr>
          <p:nvPr>
            <p:ph type="body" idx="1"/>
          </p:nvPr>
        </p:nvSpPr>
        <p:spPr>
          <a:xfrm>
            <a:off x="526229" y="1294760"/>
            <a:ext cx="10310706" cy="4617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14350" lvl="0" indent="-5143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rabicPeriod"/>
            </a:pPr>
            <a:r>
              <a:rPr lang="en-US" b="1">
                <a:latin typeface="Tahoma"/>
                <a:ea typeface="Tahoma"/>
                <a:cs typeface="Tahoma"/>
                <a:sym typeface="Tahoma"/>
              </a:rPr>
              <a:t>Basic data types</a:t>
            </a:r>
            <a:endParaRPr/>
          </a:p>
          <a:p>
            <a:pPr marL="514350" lvl="0" indent="-51435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rabicPeriod"/>
            </a:pPr>
            <a:r>
              <a:rPr lang="en-US" b="1">
                <a:latin typeface="Tahoma"/>
                <a:ea typeface="Tahoma"/>
                <a:cs typeface="Tahoma"/>
                <a:sym typeface="Tahoma"/>
              </a:rPr>
              <a:t>Variables, Constants, Statements &amp; Expressions</a:t>
            </a:r>
            <a:endParaRPr/>
          </a:p>
          <a:p>
            <a:pPr marL="514350" lvl="0" indent="-51435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rabicPeriod"/>
            </a:pPr>
            <a:r>
              <a:rPr lang="en-US" b="1">
                <a:latin typeface="Tahoma"/>
                <a:ea typeface="Tahoma"/>
                <a:cs typeface="Tahoma"/>
                <a:sym typeface="Tahoma"/>
              </a:rPr>
              <a:t>Input and output commands</a:t>
            </a:r>
            <a:endParaRPr/>
          </a:p>
          <a:p>
            <a:pPr marL="514350" lvl="0" indent="-51435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rabicPeriod"/>
            </a:pPr>
            <a:r>
              <a:rPr lang="en-US" b="1">
                <a:latin typeface="Tahoma"/>
                <a:ea typeface="Tahoma"/>
                <a:cs typeface="Tahoma"/>
                <a:sym typeface="Tahoma"/>
              </a:rPr>
              <a:t>Sample</a:t>
            </a:r>
            <a:endParaRPr/>
          </a:p>
        </p:txBody>
      </p:sp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2</a:t>
            </a:fld>
            <a:r>
              <a:rPr lang="en-US" smtClean="0"/>
              <a:t>/ 39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"/>
          <p:cNvSpPr txBox="1"/>
          <p:nvPr/>
        </p:nvSpPr>
        <p:spPr>
          <a:xfrm>
            <a:off x="337942" y="255556"/>
            <a:ext cx="11015857" cy="943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The basic data types</a:t>
            </a:r>
            <a:endParaRPr/>
          </a:p>
        </p:txBody>
      </p:sp>
      <p:sp>
        <p:nvSpPr>
          <p:cNvPr id="137" name="Google Shape;137;p3"/>
          <p:cNvSpPr txBox="1">
            <a:spLocks noGrp="1"/>
          </p:cNvSpPr>
          <p:nvPr>
            <p:ph type="body" idx="1"/>
          </p:nvPr>
        </p:nvSpPr>
        <p:spPr>
          <a:xfrm>
            <a:off x="107576" y="1195251"/>
            <a:ext cx="11908716" cy="52055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The C language has four basic types:</a:t>
            </a:r>
            <a:endParaRPr/>
          </a:p>
          <a:p>
            <a:pPr marL="0" lvl="0" indent="0" algn="just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>
                <a:latin typeface="Tahoma"/>
                <a:ea typeface="Tahoma"/>
                <a:cs typeface="Tahoma"/>
                <a:sym typeface="Tahoma"/>
              </a:rPr>
              <a:t>Integer type</a:t>
            </a:r>
            <a:r>
              <a:rPr lang="en-US">
                <a:latin typeface="Tahoma"/>
                <a:ea typeface="Tahoma"/>
                <a:cs typeface="Tahoma"/>
                <a:sym typeface="Tahoma"/>
              </a:rPr>
              <a:t>: its value is integer such as 2912, -1706, ...</a:t>
            </a:r>
            <a:endParaRPr/>
          </a:p>
          <a:p>
            <a:pPr marL="0" lvl="0" indent="0" algn="just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>
                <a:latin typeface="Tahoma"/>
                <a:ea typeface="Tahoma"/>
                <a:cs typeface="Tahoma"/>
                <a:sym typeface="Tahoma"/>
              </a:rPr>
              <a:t>Real number type</a:t>
            </a:r>
            <a:r>
              <a:rPr lang="en-US">
                <a:latin typeface="Tahoma"/>
                <a:ea typeface="Tahoma"/>
                <a:cs typeface="Tahoma"/>
                <a:sym typeface="Tahoma"/>
              </a:rPr>
              <a:t>: its value is real numbers like 3.1415, 29.12, -17.06, ...</a:t>
            </a:r>
            <a:endParaRPr/>
          </a:p>
          <a:p>
            <a:pPr marL="0" lvl="0" indent="0" algn="just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>
                <a:latin typeface="Tahoma"/>
                <a:ea typeface="Tahoma"/>
                <a:cs typeface="Tahoma"/>
                <a:sym typeface="Tahoma"/>
              </a:rPr>
              <a:t>Logical type</a:t>
            </a:r>
            <a:r>
              <a:rPr lang="en-US">
                <a:latin typeface="Tahoma"/>
                <a:ea typeface="Tahoma"/>
                <a:cs typeface="Tahoma"/>
                <a:sym typeface="Tahoma"/>
              </a:rPr>
              <a:t>: true or false value.</a:t>
            </a:r>
            <a:endParaRPr/>
          </a:p>
          <a:p>
            <a:pPr marL="0" lvl="0" indent="0" algn="just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>
                <a:latin typeface="Tahoma"/>
                <a:ea typeface="Tahoma"/>
                <a:cs typeface="Tahoma"/>
                <a:sym typeface="Tahoma"/>
              </a:rPr>
              <a:t>Character Type</a:t>
            </a:r>
            <a:r>
              <a:rPr lang="en-US">
                <a:latin typeface="Tahoma"/>
                <a:ea typeface="Tahoma"/>
                <a:cs typeface="Tahoma"/>
                <a:sym typeface="Tahoma"/>
              </a:rPr>
              <a:t>: 256 ASCII characters.</a:t>
            </a:r>
            <a:endParaRPr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3</a:t>
            </a:fld>
            <a:r>
              <a:rPr lang="en-US" smtClean="0"/>
              <a:t>/ 39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4"/>
          <p:cNvSpPr txBox="1"/>
          <p:nvPr/>
        </p:nvSpPr>
        <p:spPr>
          <a:xfrm>
            <a:off x="337942" y="255556"/>
            <a:ext cx="11015857" cy="943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The basic data types</a:t>
            </a:r>
            <a:endParaRPr/>
          </a:p>
        </p:txBody>
      </p:sp>
      <p:sp>
        <p:nvSpPr>
          <p:cNvPr id="145" name="Google Shape;145;p4"/>
          <p:cNvSpPr txBox="1">
            <a:spLocks noGrp="1"/>
          </p:cNvSpPr>
          <p:nvPr>
            <p:ph type="body" idx="1"/>
          </p:nvPr>
        </p:nvSpPr>
        <p:spPr>
          <a:xfrm>
            <a:off x="107576" y="1195251"/>
            <a:ext cx="11908716" cy="52055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>
                <a:latin typeface="Tahoma"/>
                <a:ea typeface="Tahoma"/>
                <a:cs typeface="Tahoma"/>
                <a:sym typeface="Tahoma"/>
              </a:rPr>
              <a:t>Integer types (signed)</a:t>
            </a:r>
            <a:endParaRPr/>
          </a:p>
          <a:p>
            <a:pPr marL="0" lvl="0" indent="0" algn="just" rtl="0">
              <a:lnSpc>
                <a:spcPct val="13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n signed bits: –2</a:t>
            </a:r>
            <a:r>
              <a:rPr lang="en-US" baseline="30000">
                <a:latin typeface="Tahoma"/>
                <a:ea typeface="Tahoma"/>
                <a:cs typeface="Tahoma"/>
                <a:sym typeface="Tahoma"/>
              </a:rPr>
              <a:t>n – 1 </a:t>
            </a:r>
            <a:r>
              <a:rPr lang="en-US">
                <a:latin typeface="Tahoma"/>
                <a:ea typeface="Tahoma"/>
                <a:cs typeface="Tahoma"/>
                <a:sym typeface="Tahoma"/>
              </a:rPr>
              <a:t>… +2</a:t>
            </a:r>
            <a:r>
              <a:rPr lang="en-US" baseline="30000">
                <a:latin typeface="Tahoma"/>
                <a:ea typeface="Tahoma"/>
                <a:cs typeface="Tahoma"/>
                <a:sym typeface="Tahoma"/>
              </a:rPr>
              <a:t>n – 1 </a:t>
            </a:r>
            <a:r>
              <a:rPr lang="en-US">
                <a:latin typeface="Tahoma"/>
                <a:ea typeface="Tahoma"/>
                <a:cs typeface="Tahoma"/>
                <a:sym typeface="Tahoma"/>
              </a:rPr>
              <a:t>– 1</a:t>
            </a:r>
            <a:endParaRPr>
              <a:latin typeface="Tahoma"/>
              <a:ea typeface="Tahoma"/>
              <a:cs typeface="Tahoma"/>
              <a:sym typeface="Tahoma"/>
            </a:endParaRPr>
          </a:p>
        </p:txBody>
      </p:sp>
      <p:graphicFrame>
        <p:nvGraphicFramePr>
          <p:cNvPr id="146" name="Google Shape;146;p4"/>
          <p:cNvGraphicFramePr/>
          <p:nvPr/>
        </p:nvGraphicFramePr>
        <p:xfrm>
          <a:off x="804134" y="315957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{0375751F-355D-4019-AC19-14266FEC0002}</a:tableStyleId>
              </a:tblPr>
              <a:tblGrid>
                <a:gridCol w="2272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95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47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/>
                        <a:t>Type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Size (bytes)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Range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char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1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-128 to 127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short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2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-32.768 to 32.767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int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4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–2.147.483.648 to 2.147.483.647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4</a:t>
            </a:fld>
            <a:r>
              <a:rPr lang="en-US" smtClean="0"/>
              <a:t>/ 39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5"/>
          <p:cNvSpPr txBox="1"/>
          <p:nvPr/>
        </p:nvSpPr>
        <p:spPr>
          <a:xfrm>
            <a:off x="337942" y="255556"/>
            <a:ext cx="11015857" cy="943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The basic data types</a:t>
            </a:r>
            <a:endParaRPr/>
          </a:p>
        </p:txBody>
      </p:sp>
      <p:sp>
        <p:nvSpPr>
          <p:cNvPr id="154" name="Google Shape;154;p5"/>
          <p:cNvSpPr txBox="1">
            <a:spLocks noGrp="1"/>
          </p:cNvSpPr>
          <p:nvPr>
            <p:ph type="body" idx="1"/>
          </p:nvPr>
        </p:nvSpPr>
        <p:spPr>
          <a:xfrm>
            <a:off x="107576" y="1195251"/>
            <a:ext cx="11908716" cy="52055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>
                <a:latin typeface="Tahoma"/>
                <a:ea typeface="Tahoma"/>
                <a:cs typeface="Tahoma"/>
                <a:sym typeface="Tahoma"/>
              </a:rPr>
              <a:t>Integer types (unsigned)</a:t>
            </a:r>
            <a:endParaRPr/>
          </a:p>
          <a:p>
            <a:pPr marL="0" lvl="0" indent="0" algn="just" rtl="0">
              <a:lnSpc>
                <a:spcPct val="13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n unsigned bits: 0 … +2</a:t>
            </a:r>
            <a:r>
              <a:rPr lang="en-US" baseline="30000">
                <a:latin typeface="Tahoma"/>
                <a:ea typeface="Tahoma"/>
                <a:cs typeface="Tahoma"/>
                <a:sym typeface="Tahoma"/>
              </a:rPr>
              <a:t>n</a:t>
            </a:r>
            <a:r>
              <a:rPr lang="en-US">
                <a:latin typeface="Tahoma"/>
                <a:ea typeface="Tahoma"/>
                <a:cs typeface="Tahoma"/>
                <a:sym typeface="Tahoma"/>
              </a:rPr>
              <a:t> – 1</a:t>
            </a:r>
            <a:endParaRPr>
              <a:latin typeface="Tahoma"/>
              <a:ea typeface="Tahoma"/>
              <a:cs typeface="Tahoma"/>
              <a:sym typeface="Tahoma"/>
            </a:endParaRPr>
          </a:p>
        </p:txBody>
      </p:sp>
      <p:graphicFrame>
        <p:nvGraphicFramePr>
          <p:cNvPr id="155" name="Google Shape;155;p5"/>
          <p:cNvGraphicFramePr/>
          <p:nvPr/>
        </p:nvGraphicFramePr>
        <p:xfrm>
          <a:off x="804134" y="315957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{0375751F-355D-4019-AC19-14266FEC0002}</a:tableStyleId>
              </a:tblPr>
              <a:tblGrid>
                <a:gridCol w="2735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47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Type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Size (bytes)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Range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unsigned char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1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0 to 255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unsigned short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2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0 to 65.535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unsigned int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4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0 to 4.294.967.295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5</a:t>
            </a:fld>
            <a:r>
              <a:rPr lang="en-US" smtClean="0"/>
              <a:t>/ 39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6"/>
          <p:cNvSpPr txBox="1"/>
          <p:nvPr/>
        </p:nvSpPr>
        <p:spPr>
          <a:xfrm>
            <a:off x="337942" y="255556"/>
            <a:ext cx="11015857" cy="943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The basic data types</a:t>
            </a:r>
            <a:endParaRPr/>
          </a:p>
        </p:txBody>
      </p:sp>
      <p:sp>
        <p:nvSpPr>
          <p:cNvPr id="163" name="Google Shape;163;p6"/>
          <p:cNvSpPr txBox="1">
            <a:spLocks noGrp="1"/>
          </p:cNvSpPr>
          <p:nvPr>
            <p:ph type="body" idx="1"/>
          </p:nvPr>
        </p:nvSpPr>
        <p:spPr>
          <a:xfrm>
            <a:off x="107576" y="1195251"/>
            <a:ext cx="11908716" cy="52055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>
                <a:latin typeface="Tahoma"/>
                <a:ea typeface="Tahoma"/>
                <a:cs typeface="Tahoma"/>
                <a:sym typeface="Tahoma"/>
              </a:rPr>
              <a:t>Floating-point types</a:t>
            </a:r>
            <a:endParaRPr/>
          </a:p>
          <a:p>
            <a:pPr marL="0" lvl="0" indent="0" algn="just" rtl="0">
              <a:lnSpc>
                <a:spcPct val="13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For example</a:t>
            </a:r>
            <a:endParaRPr/>
          </a:p>
          <a:p>
            <a:pPr marL="0" lvl="0" indent="0" algn="just" rtl="0">
              <a:lnSpc>
                <a:spcPct val="13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17.06 = 1.706*10 = 1.706*10</a:t>
            </a:r>
            <a:r>
              <a:rPr lang="en-US" baseline="30000">
                <a:latin typeface="Tahoma"/>
                <a:ea typeface="Tahoma"/>
                <a:cs typeface="Tahoma"/>
                <a:sym typeface="Tahoma"/>
              </a:rPr>
              <a:t>1</a:t>
            </a:r>
            <a:endParaRPr/>
          </a:p>
          <a:p>
            <a:pPr marL="0" lvl="0" indent="0" algn="just" rtl="0">
              <a:lnSpc>
                <a:spcPct val="13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>
              <a:latin typeface="Tahoma"/>
              <a:ea typeface="Tahoma"/>
              <a:cs typeface="Tahoma"/>
              <a:sym typeface="Tahoma"/>
            </a:endParaRPr>
          </a:p>
          <a:p>
            <a:pPr marL="0" lvl="0" indent="0" algn="just" rtl="0">
              <a:lnSpc>
                <a:spcPct val="13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>
              <a:latin typeface="Tahoma"/>
              <a:ea typeface="Tahoma"/>
              <a:cs typeface="Tahoma"/>
              <a:sym typeface="Tahoma"/>
            </a:endParaRPr>
          </a:p>
          <a:p>
            <a:pPr marL="0" lvl="0" indent="0" algn="just" rtl="0">
              <a:lnSpc>
                <a:spcPct val="13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>
              <a:latin typeface="Tahoma"/>
              <a:ea typeface="Tahoma"/>
              <a:cs typeface="Tahoma"/>
              <a:sym typeface="Tahoma"/>
            </a:endParaRPr>
          </a:p>
          <a:p>
            <a:pPr marL="0" lvl="0" indent="0" algn="just" rtl="0">
              <a:lnSpc>
                <a:spcPct val="13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>
              <a:latin typeface="Tahoma"/>
              <a:ea typeface="Tahoma"/>
              <a:cs typeface="Tahoma"/>
              <a:sym typeface="Tahoma"/>
            </a:endParaRPr>
          </a:p>
          <a:p>
            <a:pPr marL="0" lvl="0" indent="0" algn="just" rtl="0">
              <a:lnSpc>
                <a:spcPct val="13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(*) Single-precision is accurate to 7 decimal places.</a:t>
            </a:r>
            <a:endParaRPr/>
          </a:p>
          <a:p>
            <a:pPr marL="0" lvl="0" indent="0" algn="just" rtl="0">
              <a:lnSpc>
                <a:spcPct val="13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(*) Double-precision is accurate to 19 decimal places.</a:t>
            </a:r>
            <a:endParaRPr>
              <a:latin typeface="Tahoma"/>
              <a:ea typeface="Tahoma"/>
              <a:cs typeface="Tahoma"/>
              <a:sym typeface="Tahoma"/>
            </a:endParaRPr>
          </a:p>
        </p:txBody>
      </p:sp>
      <p:graphicFrame>
        <p:nvGraphicFramePr>
          <p:cNvPr id="164" name="Google Shape;164;p6"/>
          <p:cNvGraphicFramePr/>
          <p:nvPr/>
        </p:nvGraphicFramePr>
        <p:xfrm>
          <a:off x="804134" y="315957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{0375751F-355D-4019-AC19-14266FEC0002}</a:tableStyleId>
              </a:tblPr>
              <a:tblGrid>
                <a:gridCol w="2735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47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Type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Size (bytes)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Range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float (*)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4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3.4*10</a:t>
                      </a:r>
                      <a:r>
                        <a:rPr lang="en-US" sz="2800" baseline="30000"/>
                        <a:t>–38</a:t>
                      </a:r>
                      <a:r>
                        <a:rPr lang="en-US" sz="2800"/>
                        <a:t> … 3.4*10</a:t>
                      </a:r>
                      <a:r>
                        <a:rPr lang="en-US" sz="2800" baseline="30000"/>
                        <a:t>38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double (**)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8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1.7*10</a:t>
                      </a:r>
                      <a:r>
                        <a:rPr lang="en-US" sz="2800" baseline="30000"/>
                        <a:t>–308</a:t>
                      </a:r>
                      <a:r>
                        <a:rPr lang="en-US" sz="2800"/>
                        <a:t> … 1.7*10</a:t>
                      </a:r>
                      <a:r>
                        <a:rPr lang="en-US" sz="2800" baseline="30000"/>
                        <a:t>308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6</a:t>
            </a:fld>
            <a:r>
              <a:rPr lang="en-US" smtClean="0"/>
              <a:t>/ 39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"/>
          <p:cNvSpPr txBox="1"/>
          <p:nvPr/>
        </p:nvSpPr>
        <p:spPr>
          <a:xfrm>
            <a:off x="337943" y="255556"/>
            <a:ext cx="6858000" cy="943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The basic data types</a:t>
            </a:r>
            <a:endParaRPr/>
          </a:p>
        </p:txBody>
      </p:sp>
      <p:sp>
        <p:nvSpPr>
          <p:cNvPr id="172" name="Google Shape;172;p7"/>
          <p:cNvSpPr txBox="1">
            <a:spLocks noGrp="1"/>
          </p:cNvSpPr>
          <p:nvPr>
            <p:ph type="body" idx="1"/>
          </p:nvPr>
        </p:nvSpPr>
        <p:spPr>
          <a:xfrm>
            <a:off x="107576" y="1195251"/>
            <a:ext cx="11908716" cy="52055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>
                <a:latin typeface="Tahoma"/>
                <a:ea typeface="Tahoma"/>
                <a:cs typeface="Tahoma"/>
                <a:sym typeface="Tahoma"/>
              </a:rPr>
              <a:t>Logical types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Characteristics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C defaults to an int value: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false (false): value 0.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true (true): non-zero value, usually 1.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C++: bool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For example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0 (false), 1 (true), 2 (true), 2.5 (true)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1 &gt; 2 (0, false), 1 &lt; 2 (1, true)</a:t>
            </a:r>
            <a:endParaRPr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7</a:t>
            </a:fld>
            <a:r>
              <a:rPr lang="en-US" smtClean="0"/>
              <a:t>/ 39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8"/>
          <p:cNvSpPr txBox="1"/>
          <p:nvPr/>
        </p:nvSpPr>
        <p:spPr>
          <a:xfrm>
            <a:off x="337943" y="255556"/>
            <a:ext cx="6858000" cy="943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The basic data types</a:t>
            </a:r>
            <a:endParaRPr/>
          </a:p>
        </p:txBody>
      </p:sp>
      <p:sp>
        <p:nvSpPr>
          <p:cNvPr id="180" name="Google Shape;180;p8"/>
          <p:cNvSpPr txBox="1">
            <a:spLocks noGrp="1"/>
          </p:cNvSpPr>
          <p:nvPr>
            <p:ph type="body" idx="1"/>
          </p:nvPr>
        </p:nvSpPr>
        <p:spPr>
          <a:xfrm>
            <a:off x="107576" y="1195251"/>
            <a:ext cx="11908716" cy="52055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>
                <a:latin typeface="Tahoma"/>
                <a:ea typeface="Tahoma"/>
                <a:cs typeface="Tahoma"/>
                <a:sym typeface="Tahoma"/>
              </a:rPr>
              <a:t>Character type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Characteristics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Type name: char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Value domain: 256 ASCII characters.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It is the integer type because: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Save all data in numerical form.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Do not save the character directly, only the ASCII code of that character.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For example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Store the number 65 as the equivalent of the letter 'A'…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Store the number 97 as the equivalent of the character 'a'.</a:t>
            </a:r>
            <a:endParaRPr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8</a:t>
            </a:fld>
            <a:r>
              <a:rPr lang="en-US" smtClean="0"/>
              <a:t>/ 39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9"/>
          <p:cNvSpPr txBox="1"/>
          <p:nvPr/>
        </p:nvSpPr>
        <p:spPr>
          <a:xfrm>
            <a:off x="337943" y="255556"/>
            <a:ext cx="6858000" cy="943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Data type definition</a:t>
            </a:r>
            <a:endParaRPr/>
          </a:p>
        </p:txBody>
      </p:sp>
      <p:sp>
        <p:nvSpPr>
          <p:cNvPr id="188" name="Google Shape;188;p9"/>
          <p:cNvSpPr txBox="1">
            <a:spLocks noGrp="1"/>
          </p:cNvSpPr>
          <p:nvPr>
            <p:ph type="body" idx="1"/>
          </p:nvPr>
        </p:nvSpPr>
        <p:spPr>
          <a:xfrm>
            <a:off x="107576" y="1195251"/>
            <a:ext cx="11908716" cy="52055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Syntax: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	typedef  &lt;type name&gt;    &lt;new type name&gt;;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>
              <a:latin typeface="Tahoma"/>
              <a:ea typeface="Tahoma"/>
              <a:cs typeface="Tahoma"/>
              <a:sym typeface="Tahoma"/>
            </a:endParaRPr>
          </a:p>
          <a:p>
            <a:pPr marL="0" lvl="0" indent="0" algn="just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For example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typedef int Integer;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>
              <a:latin typeface="Tahoma"/>
              <a:ea typeface="Tahoma"/>
              <a:cs typeface="Tahoma"/>
              <a:sym typeface="Tahoma"/>
            </a:endParaRPr>
          </a:p>
          <a:p>
            <a:pPr marL="0" lvl="0" indent="0" algn="just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Can declare: Integer x;</a:t>
            </a:r>
            <a:endParaRPr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9</a:t>
            </a:fld>
            <a:r>
              <a:rPr lang="en-US" smtClean="0"/>
              <a:t>/ 39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0"/>
          <p:cNvSpPr txBox="1"/>
          <p:nvPr/>
        </p:nvSpPr>
        <p:spPr>
          <a:xfrm>
            <a:off x="337942" y="255556"/>
            <a:ext cx="8806057" cy="943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Variable in C programming language</a:t>
            </a:r>
            <a:endParaRPr/>
          </a:p>
        </p:txBody>
      </p:sp>
      <p:sp>
        <p:nvSpPr>
          <p:cNvPr id="196" name="Google Shape;196;p10"/>
          <p:cNvSpPr txBox="1">
            <a:spLocks noGrp="1"/>
          </p:cNvSpPr>
          <p:nvPr>
            <p:ph type="body" idx="1"/>
          </p:nvPr>
        </p:nvSpPr>
        <p:spPr>
          <a:xfrm>
            <a:off x="107576" y="1195251"/>
            <a:ext cx="11908716" cy="52055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97" name="Google Shape;197;p10"/>
          <p:cNvSpPr/>
          <p:nvPr/>
        </p:nvSpPr>
        <p:spPr>
          <a:xfrm>
            <a:off x="2719892" y="1760442"/>
            <a:ext cx="2590800" cy="2233449"/>
          </a:xfrm>
          <a:prstGeom prst="hexagon">
            <a:avLst>
              <a:gd name="adj" fmla="val 25000"/>
              <a:gd name="vf" fmla="val 115470"/>
            </a:avLst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Variable</a:t>
            </a:r>
            <a:endParaRPr/>
          </a:p>
        </p:txBody>
      </p:sp>
      <p:grpSp>
        <p:nvGrpSpPr>
          <p:cNvPr id="198" name="Google Shape;198;p10"/>
          <p:cNvGrpSpPr/>
          <p:nvPr/>
        </p:nvGrpSpPr>
        <p:grpSpPr>
          <a:xfrm>
            <a:off x="2567492" y="4537801"/>
            <a:ext cx="7315200" cy="1645860"/>
            <a:chOff x="609600" y="4191000"/>
            <a:chExt cx="6324600" cy="1645860"/>
          </a:xfrm>
        </p:grpSpPr>
        <p:sp>
          <p:nvSpPr>
            <p:cNvPr id="199" name="Google Shape;199;p10"/>
            <p:cNvSpPr/>
            <p:nvPr/>
          </p:nvSpPr>
          <p:spPr>
            <a:xfrm>
              <a:off x="609600" y="4191000"/>
              <a:ext cx="6324600" cy="13716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12700" cap="flat" cmpd="sng">
              <a:solidFill>
                <a:schemeClr val="accent2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" name="Google Shape;200;p10"/>
            <p:cNvSpPr txBox="1"/>
            <p:nvPr/>
          </p:nvSpPr>
          <p:spPr>
            <a:xfrm>
              <a:off x="838200" y="4267200"/>
              <a:ext cx="6019800" cy="15696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0A85FF"/>
                </a:buClr>
                <a:buSzPts val="2400"/>
                <a:buFont typeface="Noto Sans Symbols"/>
                <a:buNone/>
              </a:pPr>
              <a:r>
                <a:rPr lang="en-US" sz="2400" b="0" i="0" u="none" strike="noStrike" cap="none">
                  <a:solidFill>
                    <a:srgbClr val="0A85FF"/>
                  </a:solidFill>
                  <a:latin typeface="Arial"/>
                  <a:ea typeface="Arial"/>
                  <a:cs typeface="Arial"/>
                  <a:sym typeface="Arial"/>
                </a:rPr>
                <a:t>Syntax</a:t>
              </a:r>
              <a:endParaRPr/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rPr lang="en-US" sz="2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&lt;type&gt;  &lt;variable name&gt;;</a:t>
              </a:r>
              <a:endParaRPr/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rPr lang="en-US" sz="2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&lt;type&gt;  &lt; variable name 1&gt;, &lt; variable name 2&gt;;</a:t>
              </a:r>
              <a:endParaRPr/>
            </a:p>
          </p:txBody>
        </p:sp>
      </p:grpSp>
      <p:sp>
        <p:nvSpPr>
          <p:cNvPr id="201" name="Google Shape;201;p10"/>
          <p:cNvSpPr/>
          <p:nvPr/>
        </p:nvSpPr>
        <p:spPr>
          <a:xfrm rot="5400000" flipH="1">
            <a:off x="2927061" y="3568632"/>
            <a:ext cx="979488" cy="1241425"/>
          </a:xfrm>
          <a:custGeom>
            <a:avLst/>
            <a:gdLst/>
            <a:ahLst/>
            <a:cxnLst/>
            <a:rect l="l" t="t" r="r" b="b"/>
            <a:pathLst>
              <a:path w="580" h="798" extrusionOk="0">
                <a:moveTo>
                  <a:pt x="580" y="0"/>
                </a:moveTo>
                <a:lnTo>
                  <a:pt x="578" y="90"/>
                </a:lnTo>
                <a:lnTo>
                  <a:pt x="568" y="174"/>
                </a:lnTo>
                <a:lnTo>
                  <a:pt x="552" y="252"/>
                </a:lnTo>
                <a:lnTo>
                  <a:pt x="526" y="324"/>
                </a:lnTo>
                <a:lnTo>
                  <a:pt x="494" y="390"/>
                </a:lnTo>
                <a:lnTo>
                  <a:pt x="452" y="450"/>
                </a:lnTo>
                <a:lnTo>
                  <a:pt x="402" y="508"/>
                </a:lnTo>
                <a:lnTo>
                  <a:pt x="342" y="560"/>
                </a:lnTo>
                <a:lnTo>
                  <a:pt x="270" y="610"/>
                </a:lnTo>
                <a:lnTo>
                  <a:pt x="188" y="656"/>
                </a:lnTo>
                <a:lnTo>
                  <a:pt x="188" y="798"/>
                </a:lnTo>
                <a:lnTo>
                  <a:pt x="0" y="514"/>
                </a:lnTo>
                <a:lnTo>
                  <a:pt x="188" y="230"/>
                </a:lnTo>
                <a:lnTo>
                  <a:pt x="188" y="372"/>
                </a:lnTo>
                <a:lnTo>
                  <a:pt x="224" y="368"/>
                </a:lnTo>
                <a:lnTo>
                  <a:pt x="264" y="356"/>
                </a:lnTo>
                <a:lnTo>
                  <a:pt x="306" y="336"/>
                </a:lnTo>
                <a:lnTo>
                  <a:pt x="348" y="310"/>
                </a:lnTo>
                <a:lnTo>
                  <a:pt x="392" y="280"/>
                </a:lnTo>
                <a:lnTo>
                  <a:pt x="432" y="246"/>
                </a:lnTo>
                <a:lnTo>
                  <a:pt x="472" y="208"/>
                </a:lnTo>
                <a:lnTo>
                  <a:pt x="506" y="166"/>
                </a:lnTo>
                <a:lnTo>
                  <a:pt x="536" y="124"/>
                </a:lnTo>
                <a:lnTo>
                  <a:pt x="558" y="82"/>
                </a:lnTo>
                <a:lnTo>
                  <a:pt x="574" y="40"/>
                </a:lnTo>
                <a:lnTo>
                  <a:pt x="578" y="0"/>
                </a:lnTo>
                <a:lnTo>
                  <a:pt x="580" y="0"/>
                </a:lnTo>
                <a:close/>
              </a:path>
            </a:pathLst>
          </a:custGeom>
          <a:gradFill>
            <a:gsLst>
              <a:gs pos="0">
                <a:srgbClr val="666666"/>
              </a:gs>
              <a:gs pos="100000">
                <a:srgbClr val="CCCCCC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2" name="Google Shape;202;p10"/>
          <p:cNvGrpSpPr/>
          <p:nvPr/>
        </p:nvGrpSpPr>
        <p:grpSpPr>
          <a:xfrm>
            <a:off x="5767892" y="1718401"/>
            <a:ext cx="4191000" cy="2133600"/>
            <a:chOff x="3810000" y="1371600"/>
            <a:chExt cx="4191000" cy="2133600"/>
          </a:xfrm>
        </p:grpSpPr>
        <p:sp>
          <p:nvSpPr>
            <p:cNvPr id="203" name="Google Shape;203;p10"/>
            <p:cNvSpPr/>
            <p:nvPr/>
          </p:nvSpPr>
          <p:spPr>
            <a:xfrm>
              <a:off x="3810000" y="1371600"/>
              <a:ext cx="4191000" cy="21336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12700" cap="flat" cmpd="sng">
              <a:solidFill>
                <a:schemeClr val="accent2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" name="Google Shape;204;p10"/>
            <p:cNvSpPr txBox="1"/>
            <p:nvPr/>
          </p:nvSpPr>
          <p:spPr>
            <a:xfrm>
              <a:off x="4038600" y="1447800"/>
              <a:ext cx="3886200" cy="19389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0A85FF"/>
                </a:buClr>
                <a:buSzPts val="2400"/>
                <a:buFont typeface="Noto Sans Symbols"/>
                <a:buNone/>
              </a:pPr>
              <a:r>
                <a:rPr lang="en-US" sz="2400" b="0" i="0" u="none" strike="noStrike" cap="none">
                  <a:solidFill>
                    <a:srgbClr val="0A85FF"/>
                  </a:solidFill>
                  <a:latin typeface="Arial"/>
                  <a:ea typeface="Arial"/>
                  <a:cs typeface="Arial"/>
                  <a:sym typeface="Arial"/>
                </a:rPr>
                <a:t>Example</a:t>
              </a:r>
              <a:endParaRPr/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rPr lang="en-US" sz="2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int   i;</a:t>
              </a:r>
              <a:endParaRPr/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rPr lang="en-US" sz="2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int   j, k;</a:t>
              </a:r>
              <a:endParaRPr/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rPr lang="en-US" sz="2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unsigned char     count;</a:t>
              </a:r>
              <a:endPara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rPr lang="en-US" sz="2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float       result , delta;</a:t>
              </a:r>
              <a:endParaRPr/>
            </a:p>
          </p:txBody>
        </p:sp>
      </p:grpSp>
      <p:sp>
        <p:nvSpPr>
          <p:cNvPr id="205" name="Google Shape;205;p10"/>
          <p:cNvSpPr/>
          <p:nvPr/>
        </p:nvSpPr>
        <p:spPr>
          <a:xfrm rot="10800000">
            <a:off x="5082092" y="1642201"/>
            <a:ext cx="903288" cy="1143000"/>
          </a:xfrm>
          <a:custGeom>
            <a:avLst/>
            <a:gdLst/>
            <a:ahLst/>
            <a:cxnLst/>
            <a:rect l="l" t="t" r="r" b="b"/>
            <a:pathLst>
              <a:path w="580" h="798" extrusionOk="0">
                <a:moveTo>
                  <a:pt x="580" y="0"/>
                </a:moveTo>
                <a:lnTo>
                  <a:pt x="578" y="90"/>
                </a:lnTo>
                <a:lnTo>
                  <a:pt x="568" y="174"/>
                </a:lnTo>
                <a:lnTo>
                  <a:pt x="552" y="252"/>
                </a:lnTo>
                <a:lnTo>
                  <a:pt x="526" y="324"/>
                </a:lnTo>
                <a:lnTo>
                  <a:pt x="494" y="390"/>
                </a:lnTo>
                <a:lnTo>
                  <a:pt x="452" y="450"/>
                </a:lnTo>
                <a:lnTo>
                  <a:pt x="402" y="508"/>
                </a:lnTo>
                <a:lnTo>
                  <a:pt x="342" y="560"/>
                </a:lnTo>
                <a:lnTo>
                  <a:pt x="270" y="610"/>
                </a:lnTo>
                <a:lnTo>
                  <a:pt x="188" y="656"/>
                </a:lnTo>
                <a:lnTo>
                  <a:pt x="188" y="798"/>
                </a:lnTo>
                <a:lnTo>
                  <a:pt x="0" y="514"/>
                </a:lnTo>
                <a:lnTo>
                  <a:pt x="188" y="230"/>
                </a:lnTo>
                <a:lnTo>
                  <a:pt x="188" y="372"/>
                </a:lnTo>
                <a:lnTo>
                  <a:pt x="224" y="368"/>
                </a:lnTo>
                <a:lnTo>
                  <a:pt x="264" y="356"/>
                </a:lnTo>
                <a:lnTo>
                  <a:pt x="306" y="336"/>
                </a:lnTo>
                <a:lnTo>
                  <a:pt x="348" y="310"/>
                </a:lnTo>
                <a:lnTo>
                  <a:pt x="392" y="280"/>
                </a:lnTo>
                <a:lnTo>
                  <a:pt x="432" y="246"/>
                </a:lnTo>
                <a:lnTo>
                  <a:pt x="472" y="208"/>
                </a:lnTo>
                <a:lnTo>
                  <a:pt x="506" y="166"/>
                </a:lnTo>
                <a:lnTo>
                  <a:pt x="536" y="124"/>
                </a:lnTo>
                <a:lnTo>
                  <a:pt x="558" y="82"/>
                </a:lnTo>
                <a:lnTo>
                  <a:pt x="574" y="40"/>
                </a:lnTo>
                <a:lnTo>
                  <a:pt x="578" y="0"/>
                </a:lnTo>
                <a:lnTo>
                  <a:pt x="580" y="0"/>
                </a:lnTo>
                <a:close/>
              </a:path>
            </a:pathLst>
          </a:custGeom>
          <a:gradFill>
            <a:gsLst>
              <a:gs pos="0">
                <a:srgbClr val="FF66FF"/>
              </a:gs>
              <a:gs pos="100000">
                <a:srgbClr val="FFCCFF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10</a:t>
            </a:fld>
            <a:r>
              <a:rPr lang="en-US" smtClean="0"/>
              <a:t>/ 39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1"/>
          <p:cNvSpPr txBox="1"/>
          <p:nvPr/>
        </p:nvSpPr>
        <p:spPr>
          <a:xfrm>
            <a:off x="337943" y="255556"/>
            <a:ext cx="8945906" cy="943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lang="en-US" sz="32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Variable in C programming language</a:t>
            </a:r>
            <a:endParaRPr/>
          </a:p>
        </p:txBody>
      </p:sp>
      <p:sp>
        <p:nvSpPr>
          <p:cNvPr id="213" name="Google Shape;213;p11"/>
          <p:cNvSpPr txBox="1">
            <a:spLocks noGrp="1"/>
          </p:cNvSpPr>
          <p:nvPr>
            <p:ph type="body" idx="1"/>
          </p:nvPr>
        </p:nvSpPr>
        <p:spPr>
          <a:xfrm>
            <a:off x="107576" y="1195251"/>
            <a:ext cx="11908716" cy="52055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Variables must be declared before use.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In C/C++ you can declare variables in: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Beyond the function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In function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Function parameter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In the program</a:t>
            </a:r>
            <a:endParaRPr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11</a:t>
            </a:fld>
            <a:r>
              <a:rPr lang="en-US" smtClean="0"/>
              <a:t>/ 39</a:t>
            </a: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2"/>
          <p:cNvSpPr txBox="1"/>
          <p:nvPr/>
        </p:nvSpPr>
        <p:spPr>
          <a:xfrm>
            <a:off x="337943" y="255556"/>
            <a:ext cx="8945906" cy="943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lang="en-US" sz="32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Constant in C programming language</a:t>
            </a:r>
            <a:endParaRPr/>
          </a:p>
        </p:txBody>
      </p:sp>
      <p:sp>
        <p:nvSpPr>
          <p:cNvPr id="221" name="Google Shape;221;p12"/>
          <p:cNvSpPr txBox="1">
            <a:spLocks noGrp="1"/>
          </p:cNvSpPr>
          <p:nvPr>
            <p:ph type="body" idx="1"/>
          </p:nvPr>
        </p:nvSpPr>
        <p:spPr>
          <a:xfrm>
            <a:off x="107576" y="1195251"/>
            <a:ext cx="11908716" cy="52055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222" name="Google Shape;222;p12"/>
          <p:cNvGrpSpPr/>
          <p:nvPr/>
        </p:nvGrpSpPr>
        <p:grpSpPr>
          <a:xfrm>
            <a:off x="1911275" y="4084638"/>
            <a:ext cx="8153400" cy="2057400"/>
            <a:chOff x="609600" y="4191000"/>
            <a:chExt cx="6324600" cy="2057400"/>
          </a:xfrm>
        </p:grpSpPr>
        <p:sp>
          <p:nvSpPr>
            <p:cNvPr id="223" name="Google Shape;223;p12"/>
            <p:cNvSpPr/>
            <p:nvPr/>
          </p:nvSpPr>
          <p:spPr>
            <a:xfrm>
              <a:off x="609600" y="4191000"/>
              <a:ext cx="6324600" cy="20574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12700" cap="flat" cmpd="sng">
              <a:solidFill>
                <a:schemeClr val="accent2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4" name="Google Shape;224;p12"/>
            <p:cNvSpPr txBox="1"/>
            <p:nvPr/>
          </p:nvSpPr>
          <p:spPr>
            <a:xfrm>
              <a:off x="838645" y="4267200"/>
              <a:ext cx="6019207" cy="120032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0A85FF"/>
                </a:buClr>
                <a:buSzPts val="2400"/>
                <a:buFont typeface="Noto Sans Symbols"/>
                <a:buNone/>
              </a:pPr>
              <a:r>
                <a:rPr lang="en-US" sz="2400" b="0">
                  <a:solidFill>
                    <a:srgbClr val="0A85FF"/>
                  </a:solidFill>
                  <a:latin typeface="Arial"/>
                  <a:ea typeface="Arial"/>
                  <a:cs typeface="Arial"/>
                  <a:sym typeface="Arial"/>
                </a:rPr>
                <a:t>Example</a:t>
              </a:r>
              <a:endParaRPr/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rPr lang="en-US" sz="2400" b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#define   MAX    100		// without </a:t>
              </a:r>
              <a:r>
                <a:rPr lang="en-US" sz="2400" b="0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=</a:t>
              </a:r>
              <a:r>
                <a:rPr lang="en-US" sz="2400" b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and </a:t>
              </a:r>
              <a:r>
                <a:rPr lang="en-US" sz="2400" b="0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;</a:t>
              </a:r>
              <a:endParaRPr/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rPr lang="en-US" sz="2400" b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#define   PI      3.14		</a:t>
              </a:r>
              <a:endParaRPr/>
            </a:p>
          </p:txBody>
        </p:sp>
      </p:grpSp>
      <p:sp>
        <p:nvSpPr>
          <p:cNvPr id="225" name="Google Shape;225;p12"/>
          <p:cNvSpPr/>
          <p:nvPr/>
        </p:nvSpPr>
        <p:spPr>
          <a:xfrm rot="5400000" flipH="1">
            <a:off x="2270844" y="3115469"/>
            <a:ext cx="979488" cy="1241425"/>
          </a:xfrm>
          <a:custGeom>
            <a:avLst/>
            <a:gdLst/>
            <a:ahLst/>
            <a:cxnLst/>
            <a:rect l="l" t="t" r="r" b="b"/>
            <a:pathLst>
              <a:path w="580" h="798" extrusionOk="0">
                <a:moveTo>
                  <a:pt x="580" y="0"/>
                </a:moveTo>
                <a:lnTo>
                  <a:pt x="578" y="90"/>
                </a:lnTo>
                <a:lnTo>
                  <a:pt x="568" y="174"/>
                </a:lnTo>
                <a:lnTo>
                  <a:pt x="552" y="252"/>
                </a:lnTo>
                <a:lnTo>
                  <a:pt x="526" y="324"/>
                </a:lnTo>
                <a:lnTo>
                  <a:pt x="494" y="390"/>
                </a:lnTo>
                <a:lnTo>
                  <a:pt x="452" y="450"/>
                </a:lnTo>
                <a:lnTo>
                  <a:pt x="402" y="508"/>
                </a:lnTo>
                <a:lnTo>
                  <a:pt x="342" y="560"/>
                </a:lnTo>
                <a:lnTo>
                  <a:pt x="270" y="610"/>
                </a:lnTo>
                <a:lnTo>
                  <a:pt x="188" y="656"/>
                </a:lnTo>
                <a:lnTo>
                  <a:pt x="188" y="798"/>
                </a:lnTo>
                <a:lnTo>
                  <a:pt x="0" y="514"/>
                </a:lnTo>
                <a:lnTo>
                  <a:pt x="188" y="230"/>
                </a:lnTo>
                <a:lnTo>
                  <a:pt x="188" y="372"/>
                </a:lnTo>
                <a:lnTo>
                  <a:pt x="224" y="368"/>
                </a:lnTo>
                <a:lnTo>
                  <a:pt x="264" y="356"/>
                </a:lnTo>
                <a:lnTo>
                  <a:pt x="306" y="336"/>
                </a:lnTo>
                <a:lnTo>
                  <a:pt x="348" y="310"/>
                </a:lnTo>
                <a:lnTo>
                  <a:pt x="392" y="280"/>
                </a:lnTo>
                <a:lnTo>
                  <a:pt x="432" y="246"/>
                </a:lnTo>
                <a:lnTo>
                  <a:pt x="472" y="208"/>
                </a:lnTo>
                <a:lnTo>
                  <a:pt x="506" y="166"/>
                </a:lnTo>
                <a:lnTo>
                  <a:pt x="536" y="124"/>
                </a:lnTo>
                <a:lnTo>
                  <a:pt x="558" y="82"/>
                </a:lnTo>
                <a:lnTo>
                  <a:pt x="574" y="40"/>
                </a:lnTo>
                <a:lnTo>
                  <a:pt x="578" y="0"/>
                </a:lnTo>
                <a:lnTo>
                  <a:pt x="580" y="0"/>
                </a:lnTo>
                <a:close/>
              </a:path>
            </a:pathLst>
          </a:custGeom>
          <a:gradFill>
            <a:gsLst>
              <a:gs pos="0">
                <a:srgbClr val="666666"/>
              </a:gs>
              <a:gs pos="100000">
                <a:srgbClr val="CCCCCC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6" name="Google Shape;226;p12"/>
          <p:cNvGrpSpPr/>
          <p:nvPr/>
        </p:nvGrpSpPr>
        <p:grpSpPr>
          <a:xfrm>
            <a:off x="5111674" y="1265238"/>
            <a:ext cx="5678245" cy="1371600"/>
            <a:chOff x="3810000" y="1371600"/>
            <a:chExt cx="4419600" cy="1371600"/>
          </a:xfrm>
        </p:grpSpPr>
        <p:sp>
          <p:nvSpPr>
            <p:cNvPr id="227" name="Google Shape;227;p12"/>
            <p:cNvSpPr/>
            <p:nvPr/>
          </p:nvSpPr>
          <p:spPr>
            <a:xfrm>
              <a:off x="3810000" y="1371600"/>
              <a:ext cx="4419600" cy="13716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12700" cap="flat" cmpd="sng">
              <a:solidFill>
                <a:schemeClr val="accent2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8" name="Google Shape;228;p12"/>
            <p:cNvSpPr txBox="1"/>
            <p:nvPr/>
          </p:nvSpPr>
          <p:spPr>
            <a:xfrm>
              <a:off x="4038600" y="1447800"/>
              <a:ext cx="4191000" cy="83099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0A85FF"/>
                </a:buClr>
                <a:buSzPts val="2400"/>
                <a:buFont typeface="Noto Sans Symbols"/>
                <a:buNone/>
              </a:pPr>
              <a:r>
                <a:rPr lang="en-US" sz="2400" b="0">
                  <a:solidFill>
                    <a:srgbClr val="0A85FF"/>
                  </a:solidFill>
                  <a:latin typeface="Arial"/>
                  <a:ea typeface="Arial"/>
                  <a:cs typeface="Arial"/>
                  <a:sym typeface="Arial"/>
                </a:rPr>
                <a:t>Syntax</a:t>
              </a:r>
              <a:endParaRPr/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rPr lang="en-US" sz="2400" b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#define &lt;constant name&gt; &lt;value&gt;</a:t>
              </a:r>
              <a:endParaRPr/>
            </a:p>
          </p:txBody>
        </p:sp>
      </p:grpSp>
      <p:sp>
        <p:nvSpPr>
          <p:cNvPr id="229" name="Google Shape;229;p12"/>
          <p:cNvSpPr/>
          <p:nvPr/>
        </p:nvSpPr>
        <p:spPr>
          <a:xfrm rot="10800000">
            <a:off x="4425875" y="1189038"/>
            <a:ext cx="903288" cy="1143000"/>
          </a:xfrm>
          <a:custGeom>
            <a:avLst/>
            <a:gdLst/>
            <a:ahLst/>
            <a:cxnLst/>
            <a:rect l="l" t="t" r="r" b="b"/>
            <a:pathLst>
              <a:path w="580" h="798" extrusionOk="0">
                <a:moveTo>
                  <a:pt x="580" y="0"/>
                </a:moveTo>
                <a:lnTo>
                  <a:pt x="578" y="90"/>
                </a:lnTo>
                <a:lnTo>
                  <a:pt x="568" y="174"/>
                </a:lnTo>
                <a:lnTo>
                  <a:pt x="552" y="252"/>
                </a:lnTo>
                <a:lnTo>
                  <a:pt x="526" y="324"/>
                </a:lnTo>
                <a:lnTo>
                  <a:pt x="494" y="390"/>
                </a:lnTo>
                <a:lnTo>
                  <a:pt x="452" y="450"/>
                </a:lnTo>
                <a:lnTo>
                  <a:pt x="402" y="508"/>
                </a:lnTo>
                <a:lnTo>
                  <a:pt x="342" y="560"/>
                </a:lnTo>
                <a:lnTo>
                  <a:pt x="270" y="610"/>
                </a:lnTo>
                <a:lnTo>
                  <a:pt x="188" y="656"/>
                </a:lnTo>
                <a:lnTo>
                  <a:pt x="188" y="798"/>
                </a:lnTo>
                <a:lnTo>
                  <a:pt x="0" y="514"/>
                </a:lnTo>
                <a:lnTo>
                  <a:pt x="188" y="230"/>
                </a:lnTo>
                <a:lnTo>
                  <a:pt x="188" y="372"/>
                </a:lnTo>
                <a:lnTo>
                  <a:pt x="224" y="368"/>
                </a:lnTo>
                <a:lnTo>
                  <a:pt x="264" y="356"/>
                </a:lnTo>
                <a:lnTo>
                  <a:pt x="306" y="336"/>
                </a:lnTo>
                <a:lnTo>
                  <a:pt x="348" y="310"/>
                </a:lnTo>
                <a:lnTo>
                  <a:pt x="392" y="280"/>
                </a:lnTo>
                <a:lnTo>
                  <a:pt x="432" y="246"/>
                </a:lnTo>
                <a:lnTo>
                  <a:pt x="472" y="208"/>
                </a:lnTo>
                <a:lnTo>
                  <a:pt x="506" y="166"/>
                </a:lnTo>
                <a:lnTo>
                  <a:pt x="536" y="124"/>
                </a:lnTo>
                <a:lnTo>
                  <a:pt x="558" y="82"/>
                </a:lnTo>
                <a:lnTo>
                  <a:pt x="574" y="40"/>
                </a:lnTo>
                <a:lnTo>
                  <a:pt x="578" y="0"/>
                </a:lnTo>
                <a:lnTo>
                  <a:pt x="580" y="0"/>
                </a:lnTo>
                <a:close/>
              </a:path>
            </a:pathLst>
          </a:custGeom>
          <a:gradFill>
            <a:gsLst>
              <a:gs pos="0">
                <a:srgbClr val="FF66FF"/>
              </a:gs>
              <a:gs pos="100000">
                <a:srgbClr val="FFCCFF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2"/>
          <p:cNvSpPr/>
          <p:nvPr/>
        </p:nvSpPr>
        <p:spPr>
          <a:xfrm>
            <a:off x="2292275" y="1798638"/>
            <a:ext cx="2362200" cy="1371600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r>
              <a:rPr lang="en-US" sz="32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CONSTANT</a:t>
            </a:r>
            <a:endParaRPr/>
          </a:p>
        </p:txBody>
      </p:sp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12</a:t>
            </a:fld>
            <a:r>
              <a:rPr lang="en-US" smtClean="0"/>
              <a:t>/ 39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3"/>
          <p:cNvSpPr txBox="1"/>
          <p:nvPr/>
        </p:nvSpPr>
        <p:spPr>
          <a:xfrm>
            <a:off x="337943" y="255556"/>
            <a:ext cx="8945906" cy="943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lang="en-US" sz="32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Expressions in C programming language</a:t>
            </a:r>
            <a:endParaRPr/>
          </a:p>
        </p:txBody>
      </p:sp>
      <p:sp>
        <p:nvSpPr>
          <p:cNvPr id="238" name="Google Shape;238;p13"/>
          <p:cNvSpPr txBox="1">
            <a:spLocks noGrp="1"/>
          </p:cNvSpPr>
          <p:nvPr>
            <p:ph type="body" idx="1"/>
          </p:nvPr>
        </p:nvSpPr>
        <p:spPr>
          <a:xfrm>
            <a:off x="107576" y="1195251"/>
            <a:ext cx="11908716" cy="52055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Concept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Made up of operators and operands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The operator acts on the values of the operands and gives a value of a certain type.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Operators: +, –, *, /, %….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Operands: constants, variables, function calls...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For example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2 + 3, a </a:t>
            </a:r>
            <a:r>
              <a:rPr lang="en-US" b="1">
                <a:latin typeface="Tahoma"/>
                <a:ea typeface="Tahoma"/>
                <a:cs typeface="Tahoma"/>
                <a:sym typeface="Tahoma"/>
              </a:rPr>
              <a:t>div</a:t>
            </a:r>
            <a:r>
              <a:rPr lang="en-US">
                <a:latin typeface="Tahoma"/>
                <a:ea typeface="Tahoma"/>
                <a:cs typeface="Tahoma"/>
                <a:sym typeface="Tahoma"/>
              </a:rPr>
              <a:t> 5, (a + b) * 5, …</a:t>
            </a:r>
            <a:endParaRPr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13</a:t>
            </a:fld>
            <a:r>
              <a:rPr lang="en-US" smtClean="0"/>
              <a:t>/ 39</a:t>
            </a: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4"/>
          <p:cNvSpPr txBox="1"/>
          <p:nvPr/>
        </p:nvSpPr>
        <p:spPr>
          <a:xfrm>
            <a:off x="337943" y="255556"/>
            <a:ext cx="8945906" cy="943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lang="en-US" sz="32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Operators in C programming language</a:t>
            </a:r>
            <a:endParaRPr/>
          </a:p>
        </p:txBody>
      </p:sp>
      <p:sp>
        <p:nvSpPr>
          <p:cNvPr id="246" name="Google Shape;246;p14"/>
          <p:cNvSpPr txBox="1">
            <a:spLocks noGrp="1"/>
          </p:cNvSpPr>
          <p:nvPr>
            <p:ph type="body" idx="1"/>
          </p:nvPr>
        </p:nvSpPr>
        <p:spPr>
          <a:xfrm>
            <a:off x="107576" y="1195251"/>
            <a:ext cx="11908716" cy="52055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Assignment operator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Often used in programming.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Assign a value to the variable.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Syntax:</a:t>
            </a:r>
            <a:endParaRPr/>
          </a:p>
          <a:p>
            <a:pPr marL="457200" lvl="1" indent="0" algn="just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800">
                <a:latin typeface="Tahoma"/>
                <a:ea typeface="Tahoma"/>
                <a:cs typeface="Tahoma"/>
                <a:sym typeface="Tahoma"/>
              </a:rPr>
              <a:t>&lt;variable&gt; = &lt;value&gt;;</a:t>
            </a:r>
            <a:endParaRPr/>
          </a:p>
          <a:p>
            <a:pPr marL="457200" lvl="1" indent="0" algn="just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800">
                <a:latin typeface="Tahoma"/>
                <a:ea typeface="Tahoma"/>
                <a:cs typeface="Tahoma"/>
                <a:sym typeface="Tahoma"/>
              </a:rPr>
              <a:t>&lt;variable&gt; = &lt;variable&gt;;</a:t>
            </a:r>
            <a:endParaRPr/>
          </a:p>
          <a:p>
            <a:pPr marL="457200" lvl="1" indent="0" algn="just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800">
                <a:latin typeface="Tahoma"/>
                <a:ea typeface="Tahoma"/>
                <a:cs typeface="Tahoma"/>
                <a:sym typeface="Tahoma"/>
              </a:rPr>
              <a:t>&lt;variable&gt; = &lt;expression&gt;;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Assignments can be performed consecutively.</a:t>
            </a:r>
            <a:endParaRPr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14</a:t>
            </a:fld>
            <a:r>
              <a:rPr lang="en-US" smtClean="0"/>
              <a:t>/ 39</a:t>
            </a:r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5"/>
          <p:cNvSpPr txBox="1"/>
          <p:nvPr/>
        </p:nvSpPr>
        <p:spPr>
          <a:xfrm>
            <a:off x="337943" y="255556"/>
            <a:ext cx="8945906" cy="943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lang="en-US" sz="32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Operators in C programming language</a:t>
            </a:r>
            <a:endParaRPr/>
          </a:p>
        </p:txBody>
      </p:sp>
      <p:sp>
        <p:nvSpPr>
          <p:cNvPr id="254" name="Google Shape;254;p15"/>
          <p:cNvSpPr txBox="1">
            <a:spLocks noGrp="1"/>
          </p:cNvSpPr>
          <p:nvPr>
            <p:ph type="body" idx="1"/>
          </p:nvPr>
        </p:nvSpPr>
        <p:spPr>
          <a:xfrm>
            <a:off x="107576" y="1195251"/>
            <a:ext cx="11908716" cy="52055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Assignment operator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Example:</a:t>
            </a:r>
            <a:endParaRPr/>
          </a:p>
          <a:p>
            <a:pPr marL="914400" lvl="2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800">
                <a:latin typeface="Tahoma"/>
                <a:ea typeface="Tahoma"/>
                <a:cs typeface="Tahoma"/>
                <a:sym typeface="Tahoma"/>
              </a:rPr>
              <a:t>void main()</a:t>
            </a:r>
            <a:endParaRPr/>
          </a:p>
          <a:p>
            <a:pPr marL="914400" lvl="2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800">
                <a:latin typeface="Tahoma"/>
                <a:ea typeface="Tahoma"/>
                <a:cs typeface="Tahoma"/>
                <a:sym typeface="Tahoma"/>
              </a:rPr>
              <a:t>{</a:t>
            </a:r>
            <a:endParaRPr/>
          </a:p>
          <a:p>
            <a:pPr marL="914400" lvl="2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800">
                <a:latin typeface="Tahoma"/>
                <a:ea typeface="Tahoma"/>
                <a:cs typeface="Tahoma"/>
                <a:sym typeface="Tahoma"/>
              </a:rPr>
              <a:t>	int a, b, c, d, e, f;</a:t>
            </a:r>
            <a:endParaRPr/>
          </a:p>
          <a:p>
            <a:pPr marL="914400" lvl="2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800">
                <a:latin typeface="Tahoma"/>
                <a:ea typeface="Tahoma"/>
                <a:cs typeface="Tahoma"/>
                <a:sym typeface="Tahoma"/>
              </a:rPr>
              <a:t>	a = 10;	b = a;</a:t>
            </a:r>
            <a:endParaRPr/>
          </a:p>
          <a:p>
            <a:pPr marL="914400" lvl="2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800">
                <a:latin typeface="Tahoma"/>
                <a:ea typeface="Tahoma"/>
                <a:cs typeface="Tahoma"/>
                <a:sym typeface="Tahoma"/>
              </a:rPr>
              <a:t>	f = a / b;</a:t>
            </a:r>
            <a:endParaRPr/>
          </a:p>
          <a:p>
            <a:pPr marL="914400" lvl="2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800">
                <a:latin typeface="Tahoma"/>
                <a:ea typeface="Tahoma"/>
                <a:cs typeface="Tahoma"/>
                <a:sym typeface="Tahoma"/>
              </a:rPr>
              <a:t>	a = b = c = d = e = 156;</a:t>
            </a:r>
            <a:endParaRPr/>
          </a:p>
          <a:p>
            <a:pPr marL="914400" lvl="2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800">
                <a:latin typeface="Tahoma"/>
                <a:ea typeface="Tahoma"/>
                <a:cs typeface="Tahoma"/>
                <a:sym typeface="Tahoma"/>
              </a:rPr>
              <a:t>	e = 156;	d = e;</a:t>
            </a:r>
            <a:endParaRPr/>
          </a:p>
          <a:p>
            <a:pPr marL="914400" lvl="2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800">
                <a:latin typeface="Tahoma"/>
                <a:ea typeface="Tahoma"/>
                <a:cs typeface="Tahoma"/>
                <a:sym typeface="Tahoma"/>
              </a:rPr>
              <a:t>	c = d;	b = c;</a:t>
            </a:r>
            <a:endParaRPr/>
          </a:p>
          <a:p>
            <a:pPr marL="914400" lvl="2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800">
                <a:latin typeface="Tahoma"/>
                <a:ea typeface="Tahoma"/>
                <a:cs typeface="Tahoma"/>
                <a:sym typeface="Tahoma"/>
              </a:rPr>
              <a:t>	a = b;	</a:t>
            </a:r>
            <a:endParaRPr/>
          </a:p>
          <a:p>
            <a:pPr marL="914400" lvl="2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800">
                <a:latin typeface="Tahoma"/>
                <a:ea typeface="Tahoma"/>
                <a:cs typeface="Tahoma"/>
                <a:sym typeface="Tahoma"/>
              </a:rPr>
              <a:t>}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15</a:t>
            </a:fld>
            <a:r>
              <a:rPr lang="en-US" smtClean="0"/>
              <a:t>/ 39</a:t>
            </a:r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6"/>
          <p:cNvSpPr txBox="1"/>
          <p:nvPr/>
        </p:nvSpPr>
        <p:spPr>
          <a:xfrm>
            <a:off x="337943" y="255556"/>
            <a:ext cx="8945906" cy="943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lang="en-US" sz="32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Operators in C programming language</a:t>
            </a:r>
            <a:endParaRPr/>
          </a:p>
        </p:txBody>
      </p:sp>
      <p:sp>
        <p:nvSpPr>
          <p:cNvPr id="262" name="Google Shape;262;p16"/>
          <p:cNvSpPr txBox="1">
            <a:spLocks noGrp="1"/>
          </p:cNvSpPr>
          <p:nvPr>
            <p:ph type="body" idx="1"/>
          </p:nvPr>
        </p:nvSpPr>
        <p:spPr>
          <a:xfrm>
            <a:off x="107576" y="1195251"/>
            <a:ext cx="11908716" cy="52055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Unary operator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There is only one operand in the expression.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++ (increase by 1 unit), -- (decrease by 1 unit)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Preset operand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For example ++x or --x: perform increment/decrement first.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Put after operand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For example x++ or x--: perform increment/decrement later.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For example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x = 10; y = x++; // y = 10 and x = 11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x = 10; y = ++x; // x = 11 and y = 11</a:t>
            </a:r>
            <a:endParaRPr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16</a:t>
            </a:fld>
            <a:r>
              <a:rPr lang="en-US" smtClean="0"/>
              <a:t>/ 39</a:t>
            </a:r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7"/>
          <p:cNvSpPr txBox="1"/>
          <p:nvPr/>
        </p:nvSpPr>
        <p:spPr>
          <a:xfrm>
            <a:off x="337943" y="255556"/>
            <a:ext cx="8945906" cy="943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lang="en-US" sz="32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Operators in C programming language</a:t>
            </a:r>
            <a:endParaRPr/>
          </a:p>
        </p:txBody>
      </p:sp>
      <p:sp>
        <p:nvSpPr>
          <p:cNvPr id="270" name="Google Shape;270;p17"/>
          <p:cNvSpPr txBox="1">
            <a:spLocks noGrp="1"/>
          </p:cNvSpPr>
          <p:nvPr>
            <p:ph type="body" idx="1"/>
          </p:nvPr>
        </p:nvSpPr>
        <p:spPr>
          <a:xfrm>
            <a:off x="107576" y="1195251"/>
            <a:ext cx="11908716" cy="52055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Binary operator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There are two operands in the expression.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+, –, *, /, % (divide by remainder)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x = x + y </a:t>
            </a:r>
            <a:r>
              <a:rPr lang="en-US"/>
              <a:t>⬄  </a:t>
            </a:r>
            <a:r>
              <a:rPr lang="en-US">
                <a:latin typeface="Tahoma"/>
                <a:ea typeface="Tahoma"/>
                <a:cs typeface="Tahoma"/>
                <a:sym typeface="Tahoma"/>
              </a:rPr>
              <a:t>x += y;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For example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a = 1 + 2; b = 1 – 2; c = 1 * 2; d = 1/2;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e = 1*1.0 / 2; f = float(1) / 2; g = float(1 / 2);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h = 1 % 2;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x = x * (2 + 3*5); </a:t>
            </a:r>
            <a:r>
              <a:rPr lang="en-US"/>
              <a:t>⬄ </a:t>
            </a:r>
            <a:r>
              <a:rPr lang="en-US">
                <a:latin typeface="Tahoma"/>
                <a:ea typeface="Tahoma"/>
                <a:cs typeface="Tahoma"/>
                <a:sym typeface="Tahoma"/>
              </a:rPr>
              <a:t>x *= 2 + 3*5;</a:t>
            </a:r>
            <a:endParaRPr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17</a:t>
            </a:fld>
            <a:r>
              <a:rPr lang="en-US" smtClean="0"/>
              <a:t>/ 39</a:t>
            </a:r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8"/>
          <p:cNvSpPr txBox="1"/>
          <p:nvPr/>
        </p:nvSpPr>
        <p:spPr>
          <a:xfrm>
            <a:off x="337943" y="255556"/>
            <a:ext cx="8945906" cy="943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lang="en-US" sz="32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Operators in C programming language</a:t>
            </a:r>
            <a:endParaRPr/>
          </a:p>
        </p:txBody>
      </p:sp>
      <p:sp>
        <p:nvSpPr>
          <p:cNvPr id="278" name="Google Shape;278;p18"/>
          <p:cNvSpPr txBox="1">
            <a:spLocks noGrp="1"/>
          </p:cNvSpPr>
          <p:nvPr>
            <p:ph type="body" idx="1"/>
          </p:nvPr>
        </p:nvSpPr>
        <p:spPr>
          <a:xfrm>
            <a:off x="107576" y="1195251"/>
            <a:ext cx="11908716" cy="52055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Bitwise operators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Acts on the bits of the (integer) operand.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&amp; (and), | (or), ^ (xor), ~ (not or 1's complement)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&gt;&gt; (shift right), &lt;&lt; (shift left)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Aggregation operators: &amp;=, |=, ^=, ~=, &gt;&gt;=, &lt;&lt;=</a:t>
            </a:r>
            <a:endParaRPr/>
          </a:p>
        </p:txBody>
      </p:sp>
      <p:graphicFrame>
        <p:nvGraphicFramePr>
          <p:cNvPr id="279" name="Google Shape;279;p18"/>
          <p:cNvGraphicFramePr/>
          <p:nvPr/>
        </p:nvGraphicFramePr>
        <p:xfrm>
          <a:off x="2076226" y="3706906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{DE81663E-B441-499B-BE0B-ABA6145DA965}</a:tableStyleId>
              </a:tblPr>
              <a:tblGrid>
                <a:gridCol w="1051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7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9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&amp;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>
                          <a:solidFill>
                            <a:srgbClr val="666666"/>
                          </a:solidFill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>
                          <a:solidFill>
                            <a:srgbClr val="666666"/>
                          </a:solidFill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9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>
                          <a:solidFill>
                            <a:srgbClr val="666666"/>
                          </a:solidFill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9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>
                          <a:solidFill>
                            <a:srgbClr val="666666"/>
                          </a:solidFill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/>
                        <a:t>1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80" name="Google Shape;280;p18"/>
          <p:cNvGraphicFramePr/>
          <p:nvPr/>
        </p:nvGraphicFramePr>
        <p:xfrm>
          <a:off x="5962426" y="3706906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{DE81663E-B441-499B-BE0B-ABA6145DA965}</a:tableStyleId>
              </a:tblPr>
              <a:tblGrid>
                <a:gridCol w="1051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7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9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|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>
                          <a:solidFill>
                            <a:srgbClr val="666666"/>
                          </a:solidFill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>
                          <a:solidFill>
                            <a:srgbClr val="666666"/>
                          </a:solidFill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9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>
                          <a:solidFill>
                            <a:srgbClr val="666666"/>
                          </a:solidFill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/>
                        <a:t>1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9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>
                          <a:solidFill>
                            <a:srgbClr val="666666"/>
                          </a:solidFill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 u="none"/>
                        <a:t>1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/>
                        <a:t>1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81" name="Google Shape;281;p18"/>
          <p:cNvGraphicFramePr/>
          <p:nvPr/>
        </p:nvGraphicFramePr>
        <p:xfrm>
          <a:off x="2076226" y="5002306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{DE81663E-B441-499B-BE0B-ABA6145DA965}</a:tableStyleId>
              </a:tblPr>
              <a:tblGrid>
                <a:gridCol w="1051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7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9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^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>
                          <a:solidFill>
                            <a:srgbClr val="666666"/>
                          </a:solidFill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>
                          <a:solidFill>
                            <a:srgbClr val="666666"/>
                          </a:solidFill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9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>
                          <a:solidFill>
                            <a:srgbClr val="666666"/>
                          </a:solidFill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/>
                        <a:t>1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9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>
                          <a:solidFill>
                            <a:srgbClr val="666666"/>
                          </a:solidFill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 u="none"/>
                        <a:t>1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0</a:t>
                      </a:r>
                      <a:endParaRPr sz="1800" u="sng">
                        <a:solidFill>
                          <a:srgbClr val="FF0000"/>
                        </a:solidFill>
                      </a:endParaRPr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82" name="Google Shape;282;p18"/>
          <p:cNvGraphicFramePr/>
          <p:nvPr/>
        </p:nvGraphicFramePr>
        <p:xfrm>
          <a:off x="5962426" y="5002306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{DE81663E-B441-499B-BE0B-ABA6145DA965}</a:tableStyleId>
              </a:tblPr>
              <a:tblGrid>
                <a:gridCol w="1051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7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6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~</a:t>
                      </a:r>
                      <a:endParaRPr/>
                    </a:p>
                  </a:txBody>
                  <a:tcPr marL="91450" marR="91450" marT="45700" marB="4570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>
                          <a:solidFill>
                            <a:srgbClr val="666666"/>
                          </a:solidFill>
                        </a:rPr>
                        <a:t>0</a:t>
                      </a:r>
                      <a:endParaRPr/>
                    </a:p>
                  </a:txBody>
                  <a:tcPr marL="91450" marR="91450" marT="45700" marB="457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>
                          <a:solidFill>
                            <a:srgbClr val="666666"/>
                          </a:solidFill>
                        </a:rPr>
                        <a:t>1</a:t>
                      </a:r>
                      <a:endParaRPr/>
                    </a:p>
                  </a:txBody>
                  <a:tcPr marL="91450" marR="91450" marT="45700" marB="45700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6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>
                        <a:solidFill>
                          <a:srgbClr val="666666"/>
                        </a:solidFill>
                      </a:endParaRPr>
                    </a:p>
                  </a:txBody>
                  <a:tcPr marL="91450" marR="91450" marT="45700" marB="457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/>
                        <a:t>1</a:t>
                      </a:r>
                      <a:endParaRPr sz="1800" b="1">
                        <a:solidFill>
                          <a:srgbClr val="FF0000"/>
                        </a:solidFill>
                      </a:endParaRPr>
                    </a:p>
                  </a:txBody>
                  <a:tcPr marL="91450" marR="91450" marT="45700" marB="457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0</a:t>
                      </a:r>
                      <a:endParaRPr sz="1800" u="none"/>
                    </a:p>
                  </a:txBody>
                  <a:tcPr marL="91450" marR="91450" marT="45700" marB="45700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18</a:t>
            </a:fld>
            <a:r>
              <a:rPr lang="en-US" smtClean="0"/>
              <a:t>/ 39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9"/>
          <p:cNvSpPr txBox="1"/>
          <p:nvPr/>
        </p:nvSpPr>
        <p:spPr>
          <a:xfrm>
            <a:off x="337943" y="255556"/>
            <a:ext cx="8945906" cy="943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lang="en-US" sz="32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Operators in C programming language</a:t>
            </a:r>
            <a:endParaRPr/>
          </a:p>
        </p:txBody>
      </p:sp>
      <p:sp>
        <p:nvSpPr>
          <p:cNvPr id="290" name="Google Shape;290;p19"/>
          <p:cNvSpPr txBox="1">
            <a:spLocks noGrp="1"/>
          </p:cNvSpPr>
          <p:nvPr>
            <p:ph type="body" idx="1"/>
          </p:nvPr>
        </p:nvSpPr>
        <p:spPr>
          <a:xfrm>
            <a:off x="107576" y="1195251"/>
            <a:ext cx="11908716" cy="52055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Bitwise operators (example)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int main() {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	int a = 5;	// 0000 0000 0000 0101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	int b = 6;	// 0000 0000 0000 0110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	int z1, z2, z3, z4, z5, z6;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	z1 = a &amp; b;	// 0000 0000 0000 0100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	z2 = a | b;	// 0000 0000 0000 0111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	z3 = a ^ b;	// 0000 0000 0000 0011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	z4 = ~a;	// 1111 1111 1111 1010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	z5 = a &gt;&gt; 2;// 0000 0000 0000 0001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	z6 = a &lt;&lt; 2;// 0000 0000 0001 0100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}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19</a:t>
            </a:fld>
            <a:r>
              <a:rPr lang="en-US" smtClean="0"/>
              <a:t>/ 39</a:t>
            </a:r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0"/>
          <p:cNvSpPr txBox="1"/>
          <p:nvPr/>
        </p:nvSpPr>
        <p:spPr>
          <a:xfrm>
            <a:off x="337943" y="255556"/>
            <a:ext cx="8945906" cy="943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lang="en-US" sz="32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Operators in C programming language</a:t>
            </a:r>
            <a:endParaRPr/>
          </a:p>
        </p:txBody>
      </p:sp>
      <p:sp>
        <p:nvSpPr>
          <p:cNvPr id="298" name="Google Shape;298;p20"/>
          <p:cNvSpPr txBox="1">
            <a:spLocks noGrp="1"/>
          </p:cNvSpPr>
          <p:nvPr>
            <p:ph type="body" idx="1"/>
          </p:nvPr>
        </p:nvSpPr>
        <p:spPr>
          <a:xfrm>
            <a:off x="107576" y="1195251"/>
            <a:ext cx="11908716" cy="52055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Relational operators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Compare 2 expressions with each other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Returns 0 (or false if false) or 1 (or true if true).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==, &gt;, &gt;=, &lt;, &lt;=, !=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For example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s1 = (1 == 2); s2 = (1 != 2);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s3 = (1 &gt; 2); s4 = (1 &gt;= 2);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s5 = (1 &lt; 2); s6 = (1 &lt;= 2);</a:t>
            </a:r>
            <a:endParaRPr/>
          </a:p>
        </p:txBody>
      </p:sp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20</a:t>
            </a:fld>
            <a:r>
              <a:rPr lang="en-US" smtClean="0"/>
              <a:t>/ 39</a:t>
            </a:r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1"/>
          <p:cNvSpPr txBox="1"/>
          <p:nvPr/>
        </p:nvSpPr>
        <p:spPr>
          <a:xfrm>
            <a:off x="337943" y="255556"/>
            <a:ext cx="8945906" cy="943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lang="en-US" sz="32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Operators in C programming language</a:t>
            </a:r>
            <a:endParaRPr/>
          </a:p>
        </p:txBody>
      </p:sp>
      <p:sp>
        <p:nvSpPr>
          <p:cNvPr id="306" name="Google Shape;306;p21"/>
          <p:cNvSpPr txBox="1">
            <a:spLocks noGrp="1"/>
          </p:cNvSpPr>
          <p:nvPr>
            <p:ph type="body" idx="1"/>
          </p:nvPr>
        </p:nvSpPr>
        <p:spPr>
          <a:xfrm>
            <a:off x="107576" y="1195251"/>
            <a:ext cx="11908716" cy="52055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Logical operators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Combination of many related expressions.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&amp;&amp; (and), || (or), ! (not)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>
              <a:latin typeface="Tahoma"/>
              <a:ea typeface="Tahoma"/>
              <a:cs typeface="Tahoma"/>
              <a:sym typeface="Tahoma"/>
            </a:endParaRPr>
          </a:p>
          <a:p>
            <a:pPr marL="0" lvl="0" indent="0" algn="just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>
              <a:latin typeface="Tahoma"/>
              <a:ea typeface="Tahoma"/>
              <a:cs typeface="Tahoma"/>
              <a:sym typeface="Tahoma"/>
            </a:endParaRPr>
          </a:p>
          <a:p>
            <a:pPr marL="0" lvl="0" indent="0" algn="just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>
              <a:latin typeface="Tahoma"/>
              <a:ea typeface="Tahoma"/>
              <a:cs typeface="Tahoma"/>
              <a:sym typeface="Tahoma"/>
            </a:endParaRPr>
          </a:p>
          <a:p>
            <a:pPr marL="0" lvl="0" indent="0" algn="just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>
              <a:latin typeface="Tahoma"/>
              <a:ea typeface="Tahoma"/>
              <a:cs typeface="Tahoma"/>
              <a:sym typeface="Tahoma"/>
            </a:endParaRPr>
          </a:p>
          <a:p>
            <a:pPr marL="0" lvl="0" indent="0" algn="just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For example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s1 = (1 &gt; 2) &amp;&amp; (3 &gt; 4);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s2 = (1 &gt; 2) || (3 &gt; 4);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s3 = !(1 &gt; 2);</a:t>
            </a:r>
            <a:endParaRPr/>
          </a:p>
        </p:txBody>
      </p:sp>
      <p:graphicFrame>
        <p:nvGraphicFramePr>
          <p:cNvPr id="307" name="Google Shape;307;p21"/>
          <p:cNvGraphicFramePr/>
          <p:nvPr/>
        </p:nvGraphicFramePr>
        <p:xfrm>
          <a:off x="2209800" y="2872581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{DE81663E-B441-499B-BE0B-ABA6145DA965}</a:tableStyleId>
              </a:tblPr>
              <a:tblGrid>
                <a:gridCol w="1051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7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9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&amp;&amp;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>
                          <a:solidFill>
                            <a:srgbClr val="666666"/>
                          </a:solidFill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>
                          <a:solidFill>
                            <a:srgbClr val="666666"/>
                          </a:solidFill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9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>
                          <a:solidFill>
                            <a:srgbClr val="666666"/>
                          </a:solidFill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9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>
                          <a:solidFill>
                            <a:srgbClr val="666666"/>
                          </a:solidFill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/>
                        <a:t>1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08" name="Google Shape;308;p21"/>
          <p:cNvGraphicFramePr/>
          <p:nvPr/>
        </p:nvGraphicFramePr>
        <p:xfrm>
          <a:off x="6096000" y="2872581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{DE81663E-B441-499B-BE0B-ABA6145DA965}</a:tableStyleId>
              </a:tblPr>
              <a:tblGrid>
                <a:gridCol w="1051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7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9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||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>
                          <a:solidFill>
                            <a:srgbClr val="666666"/>
                          </a:solidFill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>
                          <a:solidFill>
                            <a:srgbClr val="666666"/>
                          </a:solidFill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9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>
                          <a:solidFill>
                            <a:srgbClr val="666666"/>
                          </a:solidFill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/>
                        <a:t>1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9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>
                          <a:solidFill>
                            <a:srgbClr val="666666"/>
                          </a:solidFill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 u="none"/>
                        <a:t>1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/>
                        <a:t>1</a:t>
                      </a:r>
                      <a:endParaRPr/>
                    </a:p>
                  </a:txBody>
                  <a:tcPr marL="91450" marR="91450" marT="45725" marB="45725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21</a:t>
            </a:fld>
            <a:r>
              <a:rPr lang="en-US" smtClean="0"/>
              <a:t>/ 39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22"/>
          <p:cNvSpPr txBox="1"/>
          <p:nvPr/>
        </p:nvSpPr>
        <p:spPr>
          <a:xfrm>
            <a:off x="337943" y="255556"/>
            <a:ext cx="8945906" cy="943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lang="en-US" sz="32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Operators in C programming language</a:t>
            </a:r>
            <a:endParaRPr/>
          </a:p>
        </p:txBody>
      </p:sp>
      <p:sp>
        <p:nvSpPr>
          <p:cNvPr id="316" name="Google Shape;316;p22"/>
          <p:cNvSpPr txBox="1">
            <a:spLocks noGrp="1"/>
          </p:cNvSpPr>
          <p:nvPr>
            <p:ph type="body" idx="1"/>
          </p:nvPr>
        </p:nvSpPr>
        <p:spPr>
          <a:xfrm>
            <a:off x="107576" y="1195251"/>
            <a:ext cx="11908716" cy="52055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Conditional operator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This is a ternary operator (consisting of 3 operands).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&lt;expression 1&gt; ? &lt;expression 2&gt; : &lt;expression 3&gt;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&lt;expression 1&gt; is true then the value is &lt;expression 2&gt;.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&lt;expression 1&gt; is false then the value is &lt;expression 3&gt;.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Example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s1 = (1 &gt; 2) ? 2912 : 1706;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int s2 = 0;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1 &lt; 2 ? s2 = 2912 : s2 = 1706;</a:t>
            </a:r>
            <a:endParaRPr/>
          </a:p>
        </p:txBody>
      </p:sp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22</a:t>
            </a:fld>
            <a:r>
              <a:rPr lang="en-US" smtClean="0"/>
              <a:t>/ 39</a:t>
            </a:r>
            <a:endParaRPr 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23"/>
          <p:cNvSpPr txBox="1"/>
          <p:nvPr/>
        </p:nvSpPr>
        <p:spPr>
          <a:xfrm>
            <a:off x="337943" y="255556"/>
            <a:ext cx="8945906" cy="943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lang="en-US" sz="32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Operators in C programming language</a:t>
            </a:r>
            <a:endParaRPr/>
          </a:p>
        </p:txBody>
      </p:sp>
      <p:sp>
        <p:nvSpPr>
          <p:cNvPr id="324" name="Google Shape;324;p23"/>
          <p:cNvSpPr txBox="1">
            <a:spLocks noGrp="1"/>
          </p:cNvSpPr>
          <p:nvPr>
            <p:ph type="body" idx="1"/>
          </p:nvPr>
        </p:nvSpPr>
        <p:spPr>
          <a:xfrm>
            <a:off x="107576" y="1195251"/>
            <a:ext cx="11908716" cy="52055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Comma operator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Expressions are separated by ,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The subexpressions are evaluated from left to right, respectively.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The newly received expression is the value of the rightmost expression.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For example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x = (a++, b = b + 2);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a++; b = b + 2; x = b;</a:t>
            </a:r>
            <a:endParaRPr/>
          </a:p>
        </p:txBody>
      </p:sp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23</a:t>
            </a:fld>
            <a:r>
              <a:rPr lang="en-US" smtClean="0"/>
              <a:t>/ 39</a:t>
            </a:r>
            <a:endParaRPr 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24"/>
          <p:cNvSpPr txBox="1"/>
          <p:nvPr/>
        </p:nvSpPr>
        <p:spPr>
          <a:xfrm>
            <a:off x="337943" y="255556"/>
            <a:ext cx="8945906" cy="943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lang="en-US" sz="32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Operators in C programming language</a:t>
            </a:r>
            <a:endParaRPr/>
          </a:p>
        </p:txBody>
      </p:sp>
      <p:sp>
        <p:nvSpPr>
          <p:cNvPr id="332" name="Google Shape;332;p24"/>
          <p:cNvSpPr txBox="1">
            <a:spLocks noGrp="1"/>
          </p:cNvSpPr>
          <p:nvPr>
            <p:ph type="body" idx="1"/>
          </p:nvPr>
        </p:nvSpPr>
        <p:spPr>
          <a:xfrm>
            <a:off x="107576" y="1195251"/>
            <a:ext cx="11908716" cy="52055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The precedence of the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operators</a:t>
            </a:r>
            <a:endParaRPr/>
          </a:p>
        </p:txBody>
      </p:sp>
      <p:graphicFrame>
        <p:nvGraphicFramePr>
          <p:cNvPr id="333" name="Google Shape;333;p24"/>
          <p:cNvGraphicFramePr/>
          <p:nvPr/>
        </p:nvGraphicFramePr>
        <p:xfrm>
          <a:off x="4769224" y="1113862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{DE81663E-B441-499B-BE0B-ABA6145DA965}</a:tableStyleId>
              </a:tblPr>
              <a:tblGrid>
                <a:gridCol w="5354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0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Operator</a:t>
                      </a:r>
                      <a:endParaRPr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Priority</a:t>
                      </a:r>
                      <a:endParaRPr/>
                    </a:p>
                  </a:txBody>
                  <a:tcPr marL="91425" marR="91425" marT="45700" marB="457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0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()  []  -&gt;  .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/>
                        <a:t>!  ++  --  -  +  *  (cast)  &amp;  sizeof</a:t>
                      </a:r>
                      <a:endParaRPr sz="200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/>
                        <a:t>*  /  %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/>
                        <a:t>+  -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/>
                        <a:t>&lt;&lt;  &gt;&gt;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/>
                        <a:t>&lt;  &lt;=  &gt;  &gt;=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/>
                        <a:t>==  !=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&amp;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|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^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&amp;&amp;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||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?: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/>
                        <a:t>=  +=  -=  *=  /=  %=  &amp;= …</a:t>
                      </a:r>
                      <a:endParaRPr sz="200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,</a:t>
                      </a:r>
                      <a:endParaRPr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🡪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🡨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🡪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🡪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🡪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🡪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🡪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🡪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🡪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🡪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🡪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🡪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🡨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/>
                        <a:t>🡨</a:t>
                      </a:r>
                      <a:endParaRPr sz="2000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/>
                        <a:t>🡨</a:t>
                      </a:r>
                      <a:endParaRPr sz="2000"/>
                    </a:p>
                  </a:txBody>
                  <a:tcPr marL="91425" marR="91425" marT="45700" marB="457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24</a:t>
            </a:fld>
            <a:r>
              <a:rPr lang="en-US" smtClean="0"/>
              <a:t>/ 39</a:t>
            </a:r>
            <a:endParaRPr 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25"/>
          <p:cNvSpPr txBox="1"/>
          <p:nvPr/>
        </p:nvSpPr>
        <p:spPr>
          <a:xfrm>
            <a:off x="337943" y="255556"/>
            <a:ext cx="8945906" cy="943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lang="en-US" sz="32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Operators in C programming language</a:t>
            </a:r>
            <a:endParaRPr/>
          </a:p>
        </p:txBody>
      </p:sp>
      <p:sp>
        <p:nvSpPr>
          <p:cNvPr id="341" name="Google Shape;341;p25"/>
          <p:cNvSpPr txBox="1">
            <a:spLocks noGrp="1"/>
          </p:cNvSpPr>
          <p:nvPr>
            <p:ph type="body" idx="1"/>
          </p:nvPr>
        </p:nvSpPr>
        <p:spPr>
          <a:xfrm>
            <a:off x="107576" y="1195251"/>
            <a:ext cx="11908716" cy="52055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Execute rules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Execute the expression in the deepest ( ) first.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Follow the order of precedence of the operators.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=&gt; Automatically add ( )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For example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n = 2 + 3 * 5;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=&gt; n = 2 + (3 * 5);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a &gt; 1 &amp;&amp; b &lt; 2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=&gt; (a &gt; 1) &amp;&amp; (b &lt; 2)</a:t>
            </a:r>
            <a:endParaRPr/>
          </a:p>
        </p:txBody>
      </p:sp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25</a:t>
            </a:fld>
            <a:r>
              <a:rPr lang="en-US" smtClean="0"/>
              <a:t>/ 39</a:t>
            </a:r>
            <a:endParaRPr 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26"/>
          <p:cNvSpPr txBox="1"/>
          <p:nvPr/>
        </p:nvSpPr>
        <p:spPr>
          <a:xfrm>
            <a:off x="337943" y="255556"/>
            <a:ext cx="8945906" cy="943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lang="en-US" sz="32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Write expressions for the clauses</a:t>
            </a:r>
            <a:endParaRPr/>
          </a:p>
        </p:txBody>
      </p:sp>
      <p:sp>
        <p:nvSpPr>
          <p:cNvPr id="349" name="Google Shape;349;p26"/>
          <p:cNvSpPr txBox="1">
            <a:spLocks noGrp="1"/>
          </p:cNvSpPr>
          <p:nvPr>
            <p:ph type="body" idx="1"/>
          </p:nvPr>
        </p:nvSpPr>
        <p:spPr>
          <a:xfrm>
            <a:off x="107576" y="1195251"/>
            <a:ext cx="11908716" cy="52055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x is greater than or equal to 3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x &gt;= 3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a and b have the same sign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((a&gt;0) &amp;&amp; (b&gt;0)) || ((a&lt;0) &amp;&amp; (b&lt;0))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(a&gt;0 &amp;&amp; b&gt;0) || (a&lt;0 &amp;&amp; b&lt;0)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p equals q equals r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(p == q) &amp;&amp; (q == r) or (p == q &amp;&amp; q == r)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–5 &lt; x &lt; 5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(x &gt; –5) &amp;&amp; (x &lt; 5) or (x &gt; –5 &amp;&amp; x &lt; 5)</a:t>
            </a:r>
            <a:endParaRPr/>
          </a:p>
        </p:txBody>
      </p:sp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26</a:t>
            </a:fld>
            <a:r>
              <a:rPr lang="en-US" smtClean="0"/>
              <a:t>/ 39</a:t>
            </a:r>
            <a:endParaRPr 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27"/>
          <p:cNvSpPr txBox="1"/>
          <p:nvPr/>
        </p:nvSpPr>
        <p:spPr>
          <a:xfrm>
            <a:off x="337943" y="255556"/>
            <a:ext cx="8945906" cy="943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lang="en-US" sz="32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Statements in C programming language</a:t>
            </a:r>
            <a:endParaRPr/>
          </a:p>
        </p:txBody>
      </p:sp>
      <p:sp>
        <p:nvSpPr>
          <p:cNvPr id="357" name="Google Shape;357;p27"/>
          <p:cNvSpPr txBox="1">
            <a:spLocks noGrp="1"/>
          </p:cNvSpPr>
          <p:nvPr>
            <p:ph type="body" idx="1"/>
          </p:nvPr>
        </p:nvSpPr>
        <p:spPr>
          <a:xfrm>
            <a:off x="107576" y="1195251"/>
            <a:ext cx="11908716" cy="52055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Concept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A direct instruction that tells the computer to perform certain tasks.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The compiler ignores spaces (or tabs or newlines) between statements.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>
              <a:latin typeface="Tahoma"/>
              <a:ea typeface="Tahoma"/>
              <a:cs typeface="Tahoma"/>
              <a:sym typeface="Tahoma"/>
            </a:endParaRPr>
          </a:p>
          <a:p>
            <a:pPr marL="0" lvl="0" indent="0" algn="just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For example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	a = 2912;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	a=2912;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	a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	=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	2912;</a:t>
            </a:r>
            <a:endParaRPr/>
          </a:p>
        </p:txBody>
      </p:sp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27</a:t>
            </a:fld>
            <a:r>
              <a:rPr lang="en-US" smtClean="0"/>
              <a:t>/ 39</a:t>
            </a:r>
            <a:endParaRPr lang="en-US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28"/>
          <p:cNvSpPr txBox="1"/>
          <p:nvPr/>
        </p:nvSpPr>
        <p:spPr>
          <a:xfrm>
            <a:off x="337943" y="255556"/>
            <a:ext cx="8945906" cy="943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lang="en-US" sz="32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Statements in C programming language</a:t>
            </a:r>
            <a:endParaRPr/>
          </a:p>
        </p:txBody>
      </p:sp>
      <p:sp>
        <p:nvSpPr>
          <p:cNvPr id="365" name="Google Shape;365;p28"/>
          <p:cNvSpPr txBox="1">
            <a:spLocks noGrp="1"/>
          </p:cNvSpPr>
          <p:nvPr>
            <p:ph type="body" idx="1"/>
          </p:nvPr>
        </p:nvSpPr>
        <p:spPr>
          <a:xfrm>
            <a:off x="107576" y="1195251"/>
            <a:ext cx="11908716" cy="52055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Classify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Single statement: contains only one statement.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Complex statement (command block): consists of many single statements surrounded by { and }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>
              <a:latin typeface="Tahoma"/>
              <a:ea typeface="Tahoma"/>
              <a:cs typeface="Tahoma"/>
              <a:sym typeface="Tahoma"/>
            </a:endParaRPr>
          </a:p>
          <a:p>
            <a:pPr marL="0" lvl="0" indent="0" algn="just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For example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	a = 2912; // single statement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	{// block statement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		a = 2912;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		b = 1706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	}</a:t>
            </a:r>
            <a:endParaRPr/>
          </a:p>
        </p:txBody>
      </p:sp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28</a:t>
            </a:fld>
            <a:r>
              <a:rPr lang="en-US" smtClean="0"/>
              <a:t>/ 39</a:t>
            </a:r>
            <a:endParaRPr lang="en-US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29"/>
          <p:cNvSpPr txBox="1"/>
          <p:nvPr/>
        </p:nvSpPr>
        <p:spPr>
          <a:xfrm>
            <a:off x="337943" y="255556"/>
            <a:ext cx="8945906" cy="943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lang="en-US" sz="32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Statements in C programming language</a:t>
            </a:r>
            <a:endParaRPr/>
          </a:p>
        </p:txBody>
      </p:sp>
      <p:sp>
        <p:nvSpPr>
          <p:cNvPr id="373" name="Google Shape;373;p29"/>
          <p:cNvSpPr txBox="1">
            <a:spLocks noGrp="1"/>
          </p:cNvSpPr>
          <p:nvPr>
            <p:ph type="body" idx="1"/>
          </p:nvPr>
        </p:nvSpPr>
        <p:spPr>
          <a:xfrm>
            <a:off x="107576" y="1195251"/>
            <a:ext cx="11908716" cy="52055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Output statement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Library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#include &lt;stdio.h&gt; (</a:t>
            </a:r>
            <a:r>
              <a:rPr lang="en-US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st</a:t>
            </a:r>
            <a:r>
              <a:rPr lang="en-US">
                <a:latin typeface="Tahoma"/>
                <a:ea typeface="Tahoma"/>
                <a:cs typeface="Tahoma"/>
                <a:sym typeface="Tahoma"/>
              </a:rPr>
              <a:t>andar</a:t>
            </a:r>
            <a:r>
              <a:rPr lang="en-US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d</a:t>
            </a:r>
            <a:r>
              <a:rPr lang="en-US"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i</a:t>
            </a:r>
            <a:r>
              <a:rPr lang="en-US">
                <a:latin typeface="Tahoma"/>
                <a:ea typeface="Tahoma"/>
                <a:cs typeface="Tahoma"/>
                <a:sym typeface="Tahoma"/>
              </a:rPr>
              <a:t>nput/</a:t>
            </a:r>
            <a:r>
              <a:rPr lang="en-US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o</a:t>
            </a:r>
            <a:r>
              <a:rPr lang="en-US">
                <a:latin typeface="Tahoma"/>
                <a:ea typeface="Tahoma"/>
                <a:cs typeface="Tahoma"/>
                <a:sym typeface="Tahoma"/>
              </a:rPr>
              <a:t>utput)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Syntax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printf(&lt;format string&gt;[, &lt;arg1&gt;, &lt;arg2&gt;, …]);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&lt;format string&gt; is the representation of output information and is enclosed in double quotes “ ”.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Literal text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Escape sequence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Conversion specifier</a:t>
            </a:r>
            <a:endParaRPr/>
          </a:p>
        </p:txBody>
      </p:sp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29</a:t>
            </a:fld>
            <a:r>
              <a:rPr lang="en-US" smtClean="0"/>
              <a:t>/ 39</a:t>
            </a:r>
            <a:endParaRPr lang="en-US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30"/>
          <p:cNvSpPr txBox="1"/>
          <p:nvPr/>
        </p:nvSpPr>
        <p:spPr>
          <a:xfrm>
            <a:off x="337943" y="255556"/>
            <a:ext cx="8945906" cy="943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lang="en-US" sz="32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Statements in C programming language</a:t>
            </a:r>
            <a:endParaRPr/>
          </a:p>
        </p:txBody>
      </p:sp>
      <p:sp>
        <p:nvSpPr>
          <p:cNvPr id="381" name="Google Shape;381;p30"/>
          <p:cNvSpPr txBox="1">
            <a:spLocks noGrp="1"/>
          </p:cNvSpPr>
          <p:nvPr>
            <p:ph type="body" idx="1"/>
          </p:nvPr>
        </p:nvSpPr>
        <p:spPr>
          <a:xfrm>
            <a:off x="107576" y="1195251"/>
            <a:ext cx="11908716" cy="52055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Format string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Literal text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Outputs exactly as they were typed in the format string.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>
              <a:latin typeface="Tahoma"/>
              <a:ea typeface="Tahoma"/>
              <a:cs typeface="Tahoma"/>
              <a:sym typeface="Tahoma"/>
            </a:endParaRPr>
          </a:p>
          <a:p>
            <a:pPr marL="0" lvl="0" indent="0" algn="just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For example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Output the string Hello World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printf(“Hello ”); printf("World");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printf(“Hello World”);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Output string a + b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printf(“a + b”);</a:t>
            </a:r>
            <a:endParaRPr/>
          </a:p>
        </p:txBody>
      </p:sp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30</a:t>
            </a:fld>
            <a:r>
              <a:rPr lang="en-US" smtClean="0"/>
              <a:t>/ 39</a:t>
            </a:r>
            <a:endParaRPr lang="en-US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31"/>
          <p:cNvSpPr txBox="1"/>
          <p:nvPr/>
        </p:nvSpPr>
        <p:spPr>
          <a:xfrm>
            <a:off x="337943" y="255556"/>
            <a:ext cx="8945906" cy="943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lang="en-US" sz="32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Statements in C programming language</a:t>
            </a:r>
            <a:endParaRPr/>
          </a:p>
        </p:txBody>
      </p:sp>
      <p:sp>
        <p:nvSpPr>
          <p:cNvPr id="389" name="Google Shape;389;p31"/>
          <p:cNvSpPr txBox="1">
            <a:spLocks noGrp="1"/>
          </p:cNvSpPr>
          <p:nvPr>
            <p:ph type="body" idx="1"/>
          </p:nvPr>
        </p:nvSpPr>
        <p:spPr>
          <a:xfrm>
            <a:off x="107576" y="1195251"/>
            <a:ext cx="11908716" cy="52055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Escape sequence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Consists of \ and a character as shown in the following table: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>
              <a:latin typeface="Tahoma"/>
              <a:ea typeface="Tahoma"/>
              <a:cs typeface="Tahoma"/>
              <a:sym typeface="Tahoma"/>
            </a:endParaRPr>
          </a:p>
          <a:p>
            <a:pPr marL="0" lvl="0" indent="0" algn="just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>
              <a:latin typeface="Tahoma"/>
              <a:ea typeface="Tahoma"/>
              <a:cs typeface="Tahoma"/>
              <a:sym typeface="Tahoma"/>
            </a:endParaRPr>
          </a:p>
          <a:p>
            <a:pPr marL="0" lvl="0" indent="0" algn="just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>
              <a:latin typeface="Tahoma"/>
              <a:ea typeface="Tahoma"/>
              <a:cs typeface="Tahoma"/>
              <a:sym typeface="Tahoma"/>
            </a:endParaRPr>
          </a:p>
          <a:p>
            <a:pPr marL="0" lvl="0" indent="0" algn="just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>
              <a:latin typeface="Tahoma"/>
              <a:ea typeface="Tahoma"/>
              <a:cs typeface="Tahoma"/>
              <a:sym typeface="Tahoma"/>
            </a:endParaRPr>
          </a:p>
          <a:p>
            <a:pPr marL="0" lvl="0" indent="0" algn="just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>
              <a:latin typeface="Tahoma"/>
              <a:ea typeface="Tahoma"/>
              <a:cs typeface="Tahoma"/>
              <a:sym typeface="Tahoma"/>
            </a:endParaRPr>
          </a:p>
          <a:p>
            <a:pPr marL="0" lvl="0" indent="0" algn="just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For example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printf(“\t”); printf(“\n”);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printf(“\t\n”);</a:t>
            </a:r>
            <a:endParaRPr/>
          </a:p>
        </p:txBody>
      </p:sp>
      <p:graphicFrame>
        <p:nvGraphicFramePr>
          <p:cNvPr id="390" name="Google Shape;390;p31"/>
          <p:cNvGraphicFramePr/>
          <p:nvPr/>
        </p:nvGraphicFramePr>
        <p:xfrm>
          <a:off x="5293657" y="2439011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{DE81663E-B441-499B-BE0B-ABA6145DA965}</a:tableStyleId>
              </a:tblPr>
              <a:tblGrid>
                <a:gridCol w="3278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7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Escape sequence</a:t>
                      </a:r>
                      <a:endParaRPr/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Explanation</a:t>
                      </a:r>
                      <a:endParaRPr/>
                    </a:p>
                  </a:txBody>
                  <a:tcPr marL="91425" marR="91425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19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\</a:t>
                      </a:r>
                      <a:r>
                        <a:rPr lang="en-US" sz="2800">
                          <a:solidFill>
                            <a:srgbClr val="FF0000"/>
                          </a:solidFill>
                        </a:rPr>
                        <a:t>a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\</a:t>
                      </a:r>
                      <a:r>
                        <a:rPr lang="en-US" sz="2800">
                          <a:solidFill>
                            <a:srgbClr val="FF0000"/>
                          </a:solidFill>
                        </a:rPr>
                        <a:t>b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\</a:t>
                      </a:r>
                      <a:r>
                        <a:rPr lang="en-US" sz="2800">
                          <a:solidFill>
                            <a:srgbClr val="FF0000"/>
                          </a:solidFill>
                        </a:rPr>
                        <a:t>n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\</a:t>
                      </a:r>
                      <a:r>
                        <a:rPr lang="en-US" sz="2800">
                          <a:solidFill>
                            <a:srgbClr val="FF0000"/>
                          </a:solidFill>
                        </a:rPr>
                        <a:t>t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\</a:t>
                      </a:r>
                      <a:r>
                        <a:rPr lang="en-US" sz="2800">
                          <a:solidFill>
                            <a:srgbClr val="FF0000"/>
                          </a:solidFill>
                        </a:rPr>
                        <a:t>\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\</a:t>
                      </a:r>
                      <a:r>
                        <a:rPr lang="en-US" sz="2800">
                          <a:solidFill>
                            <a:srgbClr val="FF0000"/>
                          </a:solidFill>
                        </a:rPr>
                        <a:t>?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\</a:t>
                      </a:r>
                      <a:r>
                        <a:rPr lang="en-US" sz="2800">
                          <a:solidFill>
                            <a:srgbClr val="FF0000"/>
                          </a:solidFill>
                        </a:rPr>
                        <a:t>”</a:t>
                      </a:r>
                      <a:endParaRPr/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Bell sound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Backspace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New line</a:t>
                      </a:r>
                      <a:endParaRPr sz="280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Horizontal tab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Print \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Print ?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Print “</a:t>
                      </a:r>
                      <a:endParaRPr sz="2800"/>
                    </a:p>
                  </a:txBody>
                  <a:tcPr marL="91425" marR="91425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31</a:t>
            </a:fld>
            <a:r>
              <a:rPr lang="en-US" smtClean="0"/>
              <a:t>/ 39</a:t>
            </a:r>
            <a:endParaRPr lang="en-US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32"/>
          <p:cNvSpPr txBox="1"/>
          <p:nvPr/>
        </p:nvSpPr>
        <p:spPr>
          <a:xfrm>
            <a:off x="337943" y="255556"/>
            <a:ext cx="8945906" cy="943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lang="en-US" sz="32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Statements in C programming language</a:t>
            </a:r>
            <a:endParaRPr/>
          </a:p>
        </p:txBody>
      </p:sp>
      <p:sp>
        <p:nvSpPr>
          <p:cNvPr id="398" name="Google Shape;398;p32"/>
          <p:cNvSpPr txBox="1">
            <a:spLocks noGrp="1"/>
          </p:cNvSpPr>
          <p:nvPr>
            <p:ph type="body" idx="1"/>
          </p:nvPr>
        </p:nvSpPr>
        <p:spPr>
          <a:xfrm>
            <a:off x="107576" y="1195251"/>
            <a:ext cx="11908716" cy="52055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Conversion specifier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Consists of a % sign and a character.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Specify the type of the variable/value you want to output.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The main arguments are the variables/values to be output, listed in comma-separated order.</a:t>
            </a:r>
            <a:endParaRPr/>
          </a:p>
        </p:txBody>
      </p:sp>
      <p:graphicFrame>
        <p:nvGraphicFramePr>
          <p:cNvPr id="399" name="Google Shape;399;p32"/>
          <p:cNvGraphicFramePr/>
          <p:nvPr/>
        </p:nvGraphicFramePr>
        <p:xfrm>
          <a:off x="175709" y="3429000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{DE81663E-B441-499B-BE0B-ABA6145DA965}</a:tableStyleId>
              </a:tblPr>
              <a:tblGrid>
                <a:gridCol w="3428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75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75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Conversion specifier</a:t>
                      </a:r>
                      <a:endParaRPr/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Explanation</a:t>
                      </a:r>
                      <a:endParaRPr/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Data types</a:t>
                      </a:r>
                      <a:endParaRPr/>
                    </a:p>
                  </a:txBody>
                  <a:tcPr marL="91450" marR="91450" marT="45700" marB="457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629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%</a:t>
                      </a:r>
                      <a:r>
                        <a:rPr lang="en-US" sz="2800">
                          <a:solidFill>
                            <a:srgbClr val="FF0000"/>
                          </a:solidFill>
                        </a:rPr>
                        <a:t>c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alibri"/>
                        <a:buNone/>
                      </a:pPr>
                      <a:r>
                        <a:rPr lang="en-US" sz="2800"/>
                        <a:t>%</a:t>
                      </a:r>
                      <a:r>
                        <a:rPr lang="en-US" sz="2800">
                          <a:solidFill>
                            <a:srgbClr val="FF0000"/>
                          </a:solidFill>
                        </a:rPr>
                        <a:t>d</a:t>
                      </a:r>
                      <a:r>
                        <a:rPr lang="en-US" sz="2800"/>
                        <a:t>, %</a:t>
                      </a:r>
                      <a:r>
                        <a:rPr lang="en-US" sz="2800">
                          <a:solidFill>
                            <a:srgbClr val="FF0000"/>
                          </a:solidFill>
                        </a:rPr>
                        <a:t>ld</a:t>
                      </a:r>
                      <a:endParaRPr sz="2800">
                        <a:solidFill>
                          <a:srgbClr val="FF0000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alibri"/>
                        <a:buNone/>
                      </a:pPr>
                      <a:r>
                        <a:rPr lang="en-US" sz="2800"/>
                        <a:t>%</a:t>
                      </a:r>
                      <a:r>
                        <a:rPr lang="en-US" sz="2800">
                          <a:solidFill>
                            <a:srgbClr val="FF0000"/>
                          </a:solidFill>
                        </a:rPr>
                        <a:t>f</a:t>
                      </a:r>
                      <a:r>
                        <a:rPr lang="en-US" sz="2800"/>
                        <a:t>, %</a:t>
                      </a:r>
                      <a:r>
                        <a:rPr lang="en-US" sz="2800">
                          <a:solidFill>
                            <a:srgbClr val="FF0000"/>
                          </a:solidFill>
                        </a:rPr>
                        <a:t>lf</a:t>
                      </a:r>
                      <a:endParaRPr sz="2800">
                        <a:solidFill>
                          <a:srgbClr val="FF0000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alibri"/>
                        <a:buNone/>
                      </a:pPr>
                      <a:r>
                        <a:rPr lang="en-US" sz="2800"/>
                        <a:t>%</a:t>
                      </a:r>
                      <a:r>
                        <a:rPr lang="en-US" sz="2800">
                          <a:solidFill>
                            <a:srgbClr val="FF0000"/>
                          </a:solidFill>
                        </a:rPr>
                        <a:t>s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alibri"/>
                        <a:buNone/>
                      </a:pPr>
                      <a:r>
                        <a:rPr lang="en-US" sz="2800"/>
                        <a:t>%</a:t>
                      </a:r>
                      <a:r>
                        <a:rPr lang="en-US" sz="2800">
                          <a:solidFill>
                            <a:srgbClr val="FF0000"/>
                          </a:solidFill>
                        </a:rPr>
                        <a:t>u</a:t>
                      </a:r>
                      <a:endParaRPr/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Character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integer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Real number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String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Unsigned integer</a:t>
                      </a:r>
                      <a:endParaRPr/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char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int, short, long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float, double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char[], char*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unsigned int/short/long</a:t>
                      </a:r>
                      <a:endParaRPr/>
                    </a:p>
                  </a:txBody>
                  <a:tcPr marL="91450" marR="91450" marT="45700" marB="457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32</a:t>
            </a:fld>
            <a:r>
              <a:rPr lang="en-US" smtClean="0"/>
              <a:t>/ 39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33"/>
          <p:cNvSpPr txBox="1"/>
          <p:nvPr/>
        </p:nvSpPr>
        <p:spPr>
          <a:xfrm>
            <a:off x="337943" y="255556"/>
            <a:ext cx="8945906" cy="943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lang="en-US" sz="32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Statements in C programming language</a:t>
            </a:r>
            <a:endParaRPr/>
          </a:p>
        </p:txBody>
      </p:sp>
      <p:sp>
        <p:nvSpPr>
          <p:cNvPr id="407" name="Google Shape;407;p33"/>
          <p:cNvSpPr txBox="1">
            <a:spLocks noGrp="1"/>
          </p:cNvSpPr>
          <p:nvPr>
            <p:ph type="body" idx="1"/>
          </p:nvPr>
        </p:nvSpPr>
        <p:spPr>
          <a:xfrm>
            <a:off x="107576" y="1195251"/>
            <a:ext cx="11908716" cy="52055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Example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int a = 10, b = 20;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printf(“%d”, a);		Print out 10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printf(“%d”, b);		Print out 20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printf(“%d %d”, a, b);	Print out 10 20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>
              <a:latin typeface="Tahoma"/>
              <a:ea typeface="Tahoma"/>
              <a:cs typeface="Tahoma"/>
              <a:sym typeface="Tahoma"/>
            </a:endParaRPr>
          </a:p>
          <a:p>
            <a:pPr marL="0" lvl="0" indent="0" algn="just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float x = 15.06;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printf(“%f”, x);		Print out 15.060000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printf(“%f”, 1.0/3);	Print out 0.333333</a:t>
            </a:r>
            <a:endParaRPr/>
          </a:p>
        </p:txBody>
      </p:sp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33</a:t>
            </a:fld>
            <a:r>
              <a:rPr lang="en-US" smtClean="0"/>
              <a:t>/ 39</a:t>
            </a:r>
            <a:endParaRPr lang="en-US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34"/>
          <p:cNvSpPr txBox="1"/>
          <p:nvPr/>
        </p:nvSpPr>
        <p:spPr>
          <a:xfrm>
            <a:off x="337943" y="255556"/>
            <a:ext cx="8945906" cy="943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lang="en-US" sz="32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Statements in C programming language</a:t>
            </a:r>
            <a:endParaRPr/>
          </a:p>
        </p:txBody>
      </p:sp>
      <p:sp>
        <p:nvSpPr>
          <p:cNvPr id="415" name="Google Shape;415;p34"/>
          <p:cNvSpPr txBox="1">
            <a:spLocks noGrp="1"/>
          </p:cNvSpPr>
          <p:nvPr>
            <p:ph type="body" idx="1"/>
          </p:nvPr>
        </p:nvSpPr>
        <p:spPr>
          <a:xfrm>
            <a:off x="107576" y="1195251"/>
            <a:ext cx="11908716" cy="52055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Number format syntax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Integer output format: %</a:t>
            </a:r>
            <a:r>
              <a:rPr lang="en-US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n</a:t>
            </a:r>
            <a:r>
              <a:rPr lang="en-US">
                <a:latin typeface="Tahoma"/>
                <a:ea typeface="Tahoma"/>
                <a:cs typeface="Tahoma"/>
                <a:sym typeface="Tahoma"/>
              </a:rPr>
              <a:t>d</a:t>
            </a:r>
            <a:endParaRPr>
              <a:latin typeface="Tahoma"/>
              <a:ea typeface="Tahoma"/>
              <a:cs typeface="Tahoma"/>
              <a:sym typeface="Tahoma"/>
            </a:endParaRPr>
          </a:p>
          <a:p>
            <a:pPr marL="0" lvl="0" indent="0" algn="just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Real number output format: %</a:t>
            </a:r>
            <a:r>
              <a:rPr lang="en-US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n</a:t>
            </a:r>
            <a:r>
              <a:rPr lang="en-US">
                <a:latin typeface="Tahoma"/>
                <a:ea typeface="Tahoma"/>
                <a:cs typeface="Tahoma"/>
                <a:sym typeface="Tahoma"/>
              </a:rPr>
              <a:t>.</a:t>
            </a:r>
            <a:r>
              <a:rPr lang="en-US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k</a:t>
            </a:r>
            <a:r>
              <a:rPr lang="en-US">
                <a:latin typeface="Tahoma"/>
                <a:ea typeface="Tahoma"/>
                <a:cs typeface="Tahoma"/>
                <a:sym typeface="Tahoma"/>
              </a:rPr>
              <a:t>d</a:t>
            </a:r>
            <a:endParaRPr>
              <a:latin typeface="Tahoma"/>
              <a:ea typeface="Tahoma"/>
              <a:cs typeface="Tahoma"/>
              <a:sym typeface="Tahoma"/>
            </a:endParaRPr>
          </a:p>
          <a:p>
            <a:pPr marL="0" lvl="0" indent="0" algn="just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>
              <a:latin typeface="Tahoma"/>
              <a:ea typeface="Tahoma"/>
              <a:cs typeface="Tahoma"/>
              <a:sym typeface="Tahoma"/>
            </a:endParaRPr>
          </a:p>
          <a:p>
            <a:pPr marL="0" lvl="0" indent="0" algn="just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>
              <a:latin typeface="Tahoma"/>
              <a:ea typeface="Tahoma"/>
              <a:cs typeface="Tahoma"/>
              <a:sym typeface="Tahoma"/>
            </a:endParaRPr>
          </a:p>
          <a:p>
            <a:pPr marL="0" lvl="0" indent="0" algn="just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>
              <a:latin typeface="Tahoma"/>
              <a:ea typeface="Tahoma"/>
              <a:cs typeface="Tahoma"/>
              <a:sym typeface="Tahoma"/>
            </a:endParaRPr>
          </a:p>
          <a:p>
            <a:pPr marL="0" lvl="0" indent="0" algn="just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int a = 1706;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float x = 176.85;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printf(“%10d”, a);printf(“\n”);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printf(“%10.2f”, x);printf(“\n”);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printf(“%.2f”, x);printf(“\n”);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16" name="Google Shape;416;p34"/>
          <p:cNvSpPr/>
          <p:nvPr/>
        </p:nvSpPr>
        <p:spPr>
          <a:xfrm>
            <a:off x="4343398" y="2756963"/>
            <a:ext cx="381000" cy="381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accent2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34"/>
          <p:cNvSpPr/>
          <p:nvPr/>
        </p:nvSpPr>
        <p:spPr>
          <a:xfrm>
            <a:off x="4800598" y="2756963"/>
            <a:ext cx="381000" cy="381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accent2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34"/>
          <p:cNvSpPr/>
          <p:nvPr/>
        </p:nvSpPr>
        <p:spPr>
          <a:xfrm>
            <a:off x="5257798" y="2756963"/>
            <a:ext cx="381000" cy="381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accent2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34"/>
          <p:cNvSpPr/>
          <p:nvPr/>
        </p:nvSpPr>
        <p:spPr>
          <a:xfrm>
            <a:off x="5714998" y="2756963"/>
            <a:ext cx="381000" cy="381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accent2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34"/>
          <p:cNvSpPr/>
          <p:nvPr/>
        </p:nvSpPr>
        <p:spPr>
          <a:xfrm>
            <a:off x="6172198" y="2756963"/>
            <a:ext cx="381000" cy="381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accent2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34"/>
          <p:cNvSpPr/>
          <p:nvPr/>
        </p:nvSpPr>
        <p:spPr>
          <a:xfrm>
            <a:off x="6629398" y="2756963"/>
            <a:ext cx="381000" cy="381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accent2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34"/>
          <p:cNvSpPr/>
          <p:nvPr/>
        </p:nvSpPr>
        <p:spPr>
          <a:xfrm>
            <a:off x="7086598" y="2756963"/>
            <a:ext cx="381000" cy="381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accent2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34"/>
          <p:cNvSpPr/>
          <p:nvPr/>
        </p:nvSpPr>
        <p:spPr>
          <a:xfrm>
            <a:off x="7543798" y="2756963"/>
            <a:ext cx="381000" cy="381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accent2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34"/>
          <p:cNvSpPr/>
          <p:nvPr/>
        </p:nvSpPr>
        <p:spPr>
          <a:xfrm>
            <a:off x="8000998" y="2756963"/>
            <a:ext cx="381000" cy="381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accent2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34"/>
          <p:cNvSpPr/>
          <p:nvPr/>
        </p:nvSpPr>
        <p:spPr>
          <a:xfrm>
            <a:off x="8458198" y="2756963"/>
            <a:ext cx="381000" cy="381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accent2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34"/>
          <p:cNvSpPr/>
          <p:nvPr/>
        </p:nvSpPr>
        <p:spPr>
          <a:xfrm>
            <a:off x="8915398" y="2756963"/>
            <a:ext cx="381000" cy="381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accent2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34"/>
          <p:cNvSpPr/>
          <p:nvPr/>
        </p:nvSpPr>
        <p:spPr>
          <a:xfrm>
            <a:off x="9372598" y="2756963"/>
            <a:ext cx="381000" cy="381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accent2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34"/>
          <p:cNvSpPr/>
          <p:nvPr/>
        </p:nvSpPr>
        <p:spPr>
          <a:xfrm>
            <a:off x="9829798" y="2756963"/>
            <a:ext cx="381000" cy="381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accent2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34"/>
          <p:cNvSpPr/>
          <p:nvPr/>
        </p:nvSpPr>
        <p:spPr>
          <a:xfrm>
            <a:off x="10286998" y="2756963"/>
            <a:ext cx="381000" cy="381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accent2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34"/>
          <p:cNvSpPr/>
          <p:nvPr/>
        </p:nvSpPr>
        <p:spPr>
          <a:xfrm>
            <a:off x="10744198" y="2756963"/>
            <a:ext cx="381000" cy="381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accent2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34"/>
          <p:cNvSpPr/>
          <p:nvPr/>
        </p:nvSpPr>
        <p:spPr>
          <a:xfrm>
            <a:off x="11201398" y="2756963"/>
            <a:ext cx="381000" cy="381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accent2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34"/>
          <p:cNvSpPr/>
          <p:nvPr/>
        </p:nvSpPr>
        <p:spPr>
          <a:xfrm>
            <a:off x="4343398" y="3214163"/>
            <a:ext cx="381000" cy="381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accent2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34"/>
          <p:cNvSpPr/>
          <p:nvPr/>
        </p:nvSpPr>
        <p:spPr>
          <a:xfrm>
            <a:off x="4800598" y="3214163"/>
            <a:ext cx="381000" cy="381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accent2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34"/>
          <p:cNvSpPr/>
          <p:nvPr/>
        </p:nvSpPr>
        <p:spPr>
          <a:xfrm>
            <a:off x="5257798" y="3214163"/>
            <a:ext cx="381000" cy="381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accent2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34"/>
          <p:cNvSpPr/>
          <p:nvPr/>
        </p:nvSpPr>
        <p:spPr>
          <a:xfrm>
            <a:off x="5714998" y="3214163"/>
            <a:ext cx="381000" cy="381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accent2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34"/>
          <p:cNvSpPr/>
          <p:nvPr/>
        </p:nvSpPr>
        <p:spPr>
          <a:xfrm>
            <a:off x="6172198" y="3214163"/>
            <a:ext cx="381000" cy="381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accent2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34"/>
          <p:cNvSpPr/>
          <p:nvPr/>
        </p:nvSpPr>
        <p:spPr>
          <a:xfrm>
            <a:off x="6629398" y="3214163"/>
            <a:ext cx="381000" cy="381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accent2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34"/>
          <p:cNvSpPr/>
          <p:nvPr/>
        </p:nvSpPr>
        <p:spPr>
          <a:xfrm>
            <a:off x="7086598" y="3214163"/>
            <a:ext cx="381000" cy="381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accent2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34"/>
          <p:cNvSpPr/>
          <p:nvPr/>
        </p:nvSpPr>
        <p:spPr>
          <a:xfrm>
            <a:off x="7543798" y="3214163"/>
            <a:ext cx="381000" cy="381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accent2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34"/>
          <p:cNvSpPr/>
          <p:nvPr/>
        </p:nvSpPr>
        <p:spPr>
          <a:xfrm>
            <a:off x="8000998" y="3214163"/>
            <a:ext cx="381000" cy="381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accent2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34"/>
          <p:cNvSpPr/>
          <p:nvPr/>
        </p:nvSpPr>
        <p:spPr>
          <a:xfrm>
            <a:off x="8458198" y="3214163"/>
            <a:ext cx="381000" cy="381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accent2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34"/>
          <p:cNvSpPr/>
          <p:nvPr/>
        </p:nvSpPr>
        <p:spPr>
          <a:xfrm>
            <a:off x="8915398" y="3214163"/>
            <a:ext cx="381000" cy="381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accent2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34"/>
          <p:cNvSpPr/>
          <p:nvPr/>
        </p:nvSpPr>
        <p:spPr>
          <a:xfrm>
            <a:off x="9372598" y="3214163"/>
            <a:ext cx="381000" cy="381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accent2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34"/>
          <p:cNvSpPr/>
          <p:nvPr/>
        </p:nvSpPr>
        <p:spPr>
          <a:xfrm>
            <a:off x="9829798" y="3214163"/>
            <a:ext cx="381000" cy="381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accent2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34"/>
          <p:cNvSpPr/>
          <p:nvPr/>
        </p:nvSpPr>
        <p:spPr>
          <a:xfrm>
            <a:off x="10286998" y="3214163"/>
            <a:ext cx="381000" cy="381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accent2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34"/>
          <p:cNvSpPr/>
          <p:nvPr/>
        </p:nvSpPr>
        <p:spPr>
          <a:xfrm>
            <a:off x="10744198" y="3214163"/>
            <a:ext cx="381000" cy="381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accent2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34"/>
          <p:cNvSpPr/>
          <p:nvPr/>
        </p:nvSpPr>
        <p:spPr>
          <a:xfrm>
            <a:off x="11201398" y="3214163"/>
            <a:ext cx="381000" cy="381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accent2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34"/>
          <p:cNvSpPr/>
          <p:nvPr/>
        </p:nvSpPr>
        <p:spPr>
          <a:xfrm>
            <a:off x="4343398" y="3671363"/>
            <a:ext cx="381000" cy="381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accent2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34"/>
          <p:cNvSpPr/>
          <p:nvPr/>
        </p:nvSpPr>
        <p:spPr>
          <a:xfrm>
            <a:off x="4800598" y="3671363"/>
            <a:ext cx="381000" cy="381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accent2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34"/>
          <p:cNvSpPr/>
          <p:nvPr/>
        </p:nvSpPr>
        <p:spPr>
          <a:xfrm>
            <a:off x="5257798" y="3671363"/>
            <a:ext cx="381000" cy="381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accent2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34"/>
          <p:cNvSpPr/>
          <p:nvPr/>
        </p:nvSpPr>
        <p:spPr>
          <a:xfrm>
            <a:off x="5714998" y="3671363"/>
            <a:ext cx="381000" cy="381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accent2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34"/>
          <p:cNvSpPr/>
          <p:nvPr/>
        </p:nvSpPr>
        <p:spPr>
          <a:xfrm>
            <a:off x="6172198" y="3671363"/>
            <a:ext cx="381000" cy="381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accent2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34"/>
          <p:cNvSpPr/>
          <p:nvPr/>
        </p:nvSpPr>
        <p:spPr>
          <a:xfrm>
            <a:off x="6629398" y="3671363"/>
            <a:ext cx="381000" cy="381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accent2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34"/>
          <p:cNvSpPr/>
          <p:nvPr/>
        </p:nvSpPr>
        <p:spPr>
          <a:xfrm>
            <a:off x="7086598" y="3671363"/>
            <a:ext cx="381000" cy="381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accent2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34"/>
          <p:cNvSpPr/>
          <p:nvPr/>
        </p:nvSpPr>
        <p:spPr>
          <a:xfrm>
            <a:off x="7543798" y="3671363"/>
            <a:ext cx="381000" cy="381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accent2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34"/>
          <p:cNvSpPr/>
          <p:nvPr/>
        </p:nvSpPr>
        <p:spPr>
          <a:xfrm>
            <a:off x="8000998" y="3671363"/>
            <a:ext cx="381000" cy="381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accent2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34"/>
          <p:cNvSpPr/>
          <p:nvPr/>
        </p:nvSpPr>
        <p:spPr>
          <a:xfrm>
            <a:off x="8458198" y="3671363"/>
            <a:ext cx="381000" cy="381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accent2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34"/>
          <p:cNvSpPr/>
          <p:nvPr/>
        </p:nvSpPr>
        <p:spPr>
          <a:xfrm>
            <a:off x="8915398" y="3671363"/>
            <a:ext cx="381000" cy="381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accent2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34"/>
          <p:cNvSpPr/>
          <p:nvPr/>
        </p:nvSpPr>
        <p:spPr>
          <a:xfrm>
            <a:off x="9372598" y="3671363"/>
            <a:ext cx="381000" cy="381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accent2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34"/>
          <p:cNvSpPr/>
          <p:nvPr/>
        </p:nvSpPr>
        <p:spPr>
          <a:xfrm>
            <a:off x="9829798" y="3671363"/>
            <a:ext cx="381000" cy="381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accent2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34"/>
          <p:cNvSpPr/>
          <p:nvPr/>
        </p:nvSpPr>
        <p:spPr>
          <a:xfrm>
            <a:off x="10286998" y="3671363"/>
            <a:ext cx="381000" cy="381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accent2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34"/>
          <p:cNvSpPr/>
          <p:nvPr/>
        </p:nvSpPr>
        <p:spPr>
          <a:xfrm>
            <a:off x="10744198" y="3671363"/>
            <a:ext cx="381000" cy="381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accent2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34"/>
          <p:cNvSpPr/>
          <p:nvPr/>
        </p:nvSpPr>
        <p:spPr>
          <a:xfrm>
            <a:off x="11201398" y="3671363"/>
            <a:ext cx="381000" cy="381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accent2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34"/>
          <p:cNvSpPr/>
          <p:nvPr/>
        </p:nvSpPr>
        <p:spPr>
          <a:xfrm>
            <a:off x="4343398" y="2756963"/>
            <a:ext cx="381000" cy="381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34"/>
          <p:cNvSpPr/>
          <p:nvPr/>
        </p:nvSpPr>
        <p:spPr>
          <a:xfrm>
            <a:off x="4800598" y="2756963"/>
            <a:ext cx="381000" cy="381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34"/>
          <p:cNvSpPr/>
          <p:nvPr/>
        </p:nvSpPr>
        <p:spPr>
          <a:xfrm>
            <a:off x="5257798" y="2756963"/>
            <a:ext cx="381000" cy="381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34"/>
          <p:cNvSpPr/>
          <p:nvPr/>
        </p:nvSpPr>
        <p:spPr>
          <a:xfrm>
            <a:off x="5714998" y="2756963"/>
            <a:ext cx="381000" cy="381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34"/>
          <p:cNvSpPr/>
          <p:nvPr/>
        </p:nvSpPr>
        <p:spPr>
          <a:xfrm>
            <a:off x="6172198" y="2756963"/>
            <a:ext cx="381000" cy="381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34"/>
          <p:cNvSpPr/>
          <p:nvPr/>
        </p:nvSpPr>
        <p:spPr>
          <a:xfrm>
            <a:off x="6629398" y="2756963"/>
            <a:ext cx="381000" cy="381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34"/>
          <p:cNvSpPr/>
          <p:nvPr/>
        </p:nvSpPr>
        <p:spPr>
          <a:xfrm>
            <a:off x="7086598" y="2756963"/>
            <a:ext cx="381000" cy="381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471" name="Google Shape;471;p34"/>
          <p:cNvSpPr/>
          <p:nvPr/>
        </p:nvSpPr>
        <p:spPr>
          <a:xfrm>
            <a:off x="7543798" y="2756963"/>
            <a:ext cx="381000" cy="381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472" name="Google Shape;472;p34"/>
          <p:cNvSpPr/>
          <p:nvPr/>
        </p:nvSpPr>
        <p:spPr>
          <a:xfrm>
            <a:off x="8000998" y="2756963"/>
            <a:ext cx="381000" cy="381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473" name="Google Shape;473;p34"/>
          <p:cNvSpPr/>
          <p:nvPr/>
        </p:nvSpPr>
        <p:spPr>
          <a:xfrm>
            <a:off x="8458198" y="2756963"/>
            <a:ext cx="381000" cy="381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474" name="Google Shape;474;p34"/>
          <p:cNvSpPr/>
          <p:nvPr/>
        </p:nvSpPr>
        <p:spPr>
          <a:xfrm>
            <a:off x="6629398" y="3214163"/>
            <a:ext cx="381000" cy="381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475" name="Google Shape;475;p34"/>
          <p:cNvSpPr/>
          <p:nvPr/>
        </p:nvSpPr>
        <p:spPr>
          <a:xfrm>
            <a:off x="7086598" y="3214163"/>
            <a:ext cx="381000" cy="381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476" name="Google Shape;476;p34"/>
          <p:cNvSpPr/>
          <p:nvPr/>
        </p:nvSpPr>
        <p:spPr>
          <a:xfrm>
            <a:off x="7543798" y="3214163"/>
            <a:ext cx="381000" cy="381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</p:txBody>
      </p:sp>
      <p:sp>
        <p:nvSpPr>
          <p:cNvPr id="477" name="Google Shape;477;p34"/>
          <p:cNvSpPr/>
          <p:nvPr/>
        </p:nvSpPr>
        <p:spPr>
          <a:xfrm>
            <a:off x="8000998" y="3214163"/>
            <a:ext cx="381000" cy="381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478" name="Google Shape;478;p34"/>
          <p:cNvSpPr/>
          <p:nvPr/>
        </p:nvSpPr>
        <p:spPr>
          <a:xfrm>
            <a:off x="8458198" y="3214163"/>
            <a:ext cx="381000" cy="381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479" name="Google Shape;479;p34"/>
          <p:cNvSpPr/>
          <p:nvPr/>
        </p:nvSpPr>
        <p:spPr>
          <a:xfrm>
            <a:off x="4343398" y="3671363"/>
            <a:ext cx="381000" cy="381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480" name="Google Shape;480;p34"/>
          <p:cNvSpPr/>
          <p:nvPr/>
        </p:nvSpPr>
        <p:spPr>
          <a:xfrm>
            <a:off x="4800598" y="3671363"/>
            <a:ext cx="381000" cy="381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481" name="Google Shape;481;p34"/>
          <p:cNvSpPr/>
          <p:nvPr/>
        </p:nvSpPr>
        <p:spPr>
          <a:xfrm>
            <a:off x="5257798" y="3671363"/>
            <a:ext cx="381000" cy="381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482" name="Google Shape;482;p34"/>
          <p:cNvSpPr/>
          <p:nvPr/>
        </p:nvSpPr>
        <p:spPr>
          <a:xfrm>
            <a:off x="5714998" y="3671363"/>
            <a:ext cx="381000" cy="381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</p:txBody>
      </p:sp>
      <p:sp>
        <p:nvSpPr>
          <p:cNvPr id="483" name="Google Shape;483;p34"/>
          <p:cNvSpPr/>
          <p:nvPr/>
        </p:nvSpPr>
        <p:spPr>
          <a:xfrm>
            <a:off x="6172198" y="3671363"/>
            <a:ext cx="381000" cy="381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484" name="Google Shape;484;p34"/>
          <p:cNvSpPr/>
          <p:nvPr/>
        </p:nvSpPr>
        <p:spPr>
          <a:xfrm>
            <a:off x="6629398" y="3671363"/>
            <a:ext cx="381000" cy="381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485" name="Google Shape;485;p34"/>
          <p:cNvSpPr/>
          <p:nvPr/>
        </p:nvSpPr>
        <p:spPr>
          <a:xfrm>
            <a:off x="7086598" y="3671363"/>
            <a:ext cx="381000" cy="381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34"/>
          <p:cNvSpPr/>
          <p:nvPr/>
        </p:nvSpPr>
        <p:spPr>
          <a:xfrm>
            <a:off x="7543798" y="3671363"/>
            <a:ext cx="381000" cy="381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34"/>
          <p:cNvSpPr/>
          <p:nvPr/>
        </p:nvSpPr>
        <p:spPr>
          <a:xfrm>
            <a:off x="8000998" y="3671363"/>
            <a:ext cx="381000" cy="381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34"/>
          <p:cNvSpPr/>
          <p:nvPr/>
        </p:nvSpPr>
        <p:spPr>
          <a:xfrm>
            <a:off x="8458198" y="3671363"/>
            <a:ext cx="381000" cy="381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34"/>
          <p:cNvSpPr/>
          <p:nvPr/>
        </p:nvSpPr>
        <p:spPr>
          <a:xfrm>
            <a:off x="4343398" y="3214163"/>
            <a:ext cx="381000" cy="381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34"/>
          <p:cNvSpPr/>
          <p:nvPr/>
        </p:nvSpPr>
        <p:spPr>
          <a:xfrm>
            <a:off x="4800598" y="3214163"/>
            <a:ext cx="381000" cy="381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34"/>
          <p:cNvSpPr/>
          <p:nvPr/>
        </p:nvSpPr>
        <p:spPr>
          <a:xfrm>
            <a:off x="5257798" y="3214163"/>
            <a:ext cx="381000" cy="381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34"/>
          <p:cNvSpPr/>
          <p:nvPr/>
        </p:nvSpPr>
        <p:spPr>
          <a:xfrm>
            <a:off x="5714998" y="3214163"/>
            <a:ext cx="381000" cy="381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34"/>
          <p:cNvSpPr/>
          <p:nvPr/>
        </p:nvSpPr>
        <p:spPr>
          <a:xfrm>
            <a:off x="6172198" y="3214163"/>
            <a:ext cx="381000" cy="381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34</a:t>
            </a:fld>
            <a:r>
              <a:rPr lang="en-US" smtClean="0"/>
              <a:t>/ 39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500"/>
                                        <p:tgtEl>
                                          <p:spTgt spid="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500"/>
                                        <p:tgtEl>
                                          <p:spTgt spid="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500"/>
                                        <p:tgtEl>
                                          <p:spTgt spid="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500"/>
                                        <p:tgtEl>
                                          <p:spTgt spid="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500"/>
                                        <p:tgtEl>
                                          <p:spTgt spid="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500"/>
                                        <p:tgtEl>
                                          <p:spTgt spid="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500"/>
                                        <p:tgtEl>
                                          <p:spTgt spid="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" dur="500"/>
                                        <p:tgtEl>
                                          <p:spTgt spid="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500"/>
                                        <p:tgtEl>
                                          <p:spTgt spid="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0" dur="500"/>
                                        <p:tgtEl>
                                          <p:spTgt spid="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indefinite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5" dur="500"/>
                                        <p:tgtEl>
                                          <p:spTgt spid="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8" dur="500"/>
                                        <p:tgtEl>
                                          <p:spTgt spid="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1" dur="500"/>
                                        <p:tgtEl>
                                          <p:spTgt spid="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4" dur="500"/>
                                        <p:tgtEl>
                                          <p:spTgt spid="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500"/>
                                        <p:tgtEl>
                                          <p:spTgt spid="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0" dur="500"/>
                                        <p:tgtEl>
                                          <p:spTgt spid="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3" dur="500"/>
                                        <p:tgtEl>
                                          <p:spTgt spid="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6" dur="500"/>
                                        <p:tgtEl>
                                          <p:spTgt spid="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9" dur="500"/>
                                        <p:tgtEl>
                                          <p:spTgt spid="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2" dur="500"/>
                                        <p:tgtEl>
                                          <p:spTgt spid="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>
                      <p:stCondLst>
                        <p:cond delay="indefinite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7" dur="500"/>
                                        <p:tgtEl>
                                          <p:spTgt spid="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0" dur="500"/>
                                        <p:tgtEl>
                                          <p:spTgt spid="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3" dur="500"/>
                                        <p:tgtEl>
                                          <p:spTgt spid="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6" dur="500"/>
                                        <p:tgtEl>
                                          <p:spTgt spid="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9" dur="500"/>
                                        <p:tgtEl>
                                          <p:spTgt spid="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2" dur="500"/>
                                        <p:tgtEl>
                                          <p:spTgt spid="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5" dur="500"/>
                                        <p:tgtEl>
                                          <p:spTgt spid="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8" dur="500"/>
                                        <p:tgtEl>
                                          <p:spTgt spid="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1" dur="500"/>
                                        <p:tgtEl>
                                          <p:spTgt spid="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4" dur="500"/>
                                        <p:tgtEl>
                                          <p:spTgt spid="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35"/>
          <p:cNvSpPr txBox="1"/>
          <p:nvPr/>
        </p:nvSpPr>
        <p:spPr>
          <a:xfrm>
            <a:off x="337943" y="255556"/>
            <a:ext cx="8945906" cy="943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lang="en-US" sz="32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Statements in C programming language</a:t>
            </a:r>
            <a:endParaRPr/>
          </a:p>
        </p:txBody>
      </p:sp>
      <p:sp>
        <p:nvSpPr>
          <p:cNvPr id="501" name="Google Shape;501;p35"/>
          <p:cNvSpPr txBox="1">
            <a:spLocks noGrp="1"/>
          </p:cNvSpPr>
          <p:nvPr>
            <p:ph type="body" idx="1"/>
          </p:nvPr>
        </p:nvSpPr>
        <p:spPr>
          <a:xfrm>
            <a:off x="107576" y="1195251"/>
            <a:ext cx="11908716" cy="52055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Combine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int a = 1, b = 2;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Print The sum of 1 and 2 is 3 and break line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printf(“The sum of ”);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printf(“%d”, a);	// Print the value of a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printf(“ and ”);	// Print string “ and ”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printf(“%d”, b);	// Print the value of b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printf(“ is ”);	// Print “ is ”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printf(“%d”, a + b);	// Print the value of a + b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printf(“\n”);		// Print new line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	</a:t>
            </a:r>
            <a:r>
              <a:rPr lang="en-US"/>
              <a:t> 🡺</a:t>
            </a:r>
            <a:r>
              <a:rPr lang="en-US">
                <a:latin typeface="Tahoma"/>
                <a:ea typeface="Tahoma"/>
                <a:cs typeface="Tahoma"/>
                <a:sym typeface="Tahoma"/>
              </a:rPr>
              <a:t> printf(“The sum of %d and %d is %d\n”, a, b, a+b);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35</a:t>
            </a:fld>
            <a:r>
              <a:rPr lang="en-US" smtClean="0"/>
              <a:t>/ 39</a:t>
            </a:r>
            <a:endParaRPr lang="en-US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36"/>
          <p:cNvSpPr txBox="1"/>
          <p:nvPr/>
        </p:nvSpPr>
        <p:spPr>
          <a:xfrm>
            <a:off x="337943" y="255556"/>
            <a:ext cx="8945906" cy="943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lang="en-US" sz="32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Statements in C programming language</a:t>
            </a:r>
            <a:endParaRPr/>
          </a:p>
        </p:txBody>
      </p:sp>
      <p:sp>
        <p:nvSpPr>
          <p:cNvPr id="509" name="Google Shape;509;p36"/>
          <p:cNvSpPr txBox="1">
            <a:spLocks noGrp="1"/>
          </p:cNvSpPr>
          <p:nvPr>
            <p:ph type="body" idx="1"/>
          </p:nvPr>
        </p:nvSpPr>
        <p:spPr>
          <a:xfrm>
            <a:off x="107576" y="1195251"/>
            <a:ext cx="11908716" cy="52055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Input statement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Library</a:t>
            </a:r>
            <a:endParaRPr>
              <a:latin typeface="Tahoma"/>
              <a:ea typeface="Tahoma"/>
              <a:cs typeface="Tahoma"/>
              <a:sym typeface="Tahoma"/>
            </a:endParaRPr>
          </a:p>
          <a:p>
            <a:pPr marL="0" lvl="0" indent="0" algn="just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#include &lt;stdio.h&gt; (</a:t>
            </a:r>
            <a:r>
              <a:rPr lang="en-US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st</a:t>
            </a:r>
            <a:r>
              <a:rPr lang="en-US">
                <a:latin typeface="Tahoma"/>
                <a:ea typeface="Tahoma"/>
                <a:cs typeface="Tahoma"/>
                <a:sym typeface="Tahoma"/>
              </a:rPr>
              <a:t>andar</a:t>
            </a:r>
            <a:r>
              <a:rPr lang="en-US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d</a:t>
            </a:r>
            <a:r>
              <a:rPr lang="en-US"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i</a:t>
            </a:r>
            <a:r>
              <a:rPr lang="en-US">
                <a:latin typeface="Tahoma"/>
                <a:ea typeface="Tahoma"/>
                <a:cs typeface="Tahoma"/>
                <a:sym typeface="Tahoma"/>
              </a:rPr>
              <a:t>nput/</a:t>
            </a:r>
            <a:r>
              <a:rPr lang="en-US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o</a:t>
            </a:r>
            <a:r>
              <a:rPr lang="en-US">
                <a:latin typeface="Tahoma"/>
                <a:ea typeface="Tahoma"/>
                <a:cs typeface="Tahoma"/>
                <a:sym typeface="Tahoma"/>
              </a:rPr>
              <a:t>utput)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Syntax</a:t>
            </a:r>
            <a:endParaRPr>
              <a:latin typeface="Tahoma"/>
              <a:ea typeface="Tahoma"/>
              <a:cs typeface="Tahoma"/>
              <a:sym typeface="Tahoma"/>
            </a:endParaRPr>
          </a:p>
          <a:p>
            <a:pPr marL="0" lvl="0" indent="0" algn="just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scanf(&lt;format string&gt;[, &lt;arg1&gt;, &lt;arg2&gt;, …]);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&lt;format string&gt; same output format but only specifications.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The arguments are the names of the variables that will contain the input value and are preceded by &amp;.</a:t>
            </a:r>
            <a:endParaRPr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36</a:t>
            </a:fld>
            <a:r>
              <a:rPr lang="en-US" smtClean="0"/>
              <a:t>/ 39</a:t>
            </a:r>
            <a:endParaRPr lang="en-US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37"/>
          <p:cNvSpPr txBox="1"/>
          <p:nvPr/>
        </p:nvSpPr>
        <p:spPr>
          <a:xfrm>
            <a:off x="337943" y="255556"/>
            <a:ext cx="8945906" cy="943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lang="en-US" sz="32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Statements in C programming language</a:t>
            </a:r>
            <a:endParaRPr/>
          </a:p>
        </p:txBody>
      </p:sp>
      <p:sp>
        <p:nvSpPr>
          <p:cNvPr id="517" name="Google Shape;517;p37"/>
          <p:cNvSpPr txBox="1">
            <a:spLocks noGrp="1"/>
          </p:cNvSpPr>
          <p:nvPr>
            <p:ph type="body" idx="1"/>
          </p:nvPr>
        </p:nvSpPr>
        <p:spPr>
          <a:xfrm>
            <a:off x="107576" y="1195251"/>
            <a:ext cx="11908716" cy="52055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For example, let a and b be integer types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scanf(“%d”, &amp;a); // Enter value for variable a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scanf(“%d”, &amp;b); // Enter value for variable b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scanf(“%d%d”, &amp;a, &amp;b);</a:t>
            </a:r>
            <a:endParaRPr>
              <a:latin typeface="Tahoma"/>
              <a:ea typeface="Tahoma"/>
              <a:cs typeface="Tahoma"/>
              <a:sym typeface="Tahoma"/>
            </a:endParaRPr>
          </a:p>
          <a:p>
            <a:pPr marL="0" lvl="0" indent="0" algn="just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>
              <a:latin typeface="Tahoma"/>
              <a:ea typeface="Tahoma"/>
              <a:cs typeface="Tahoma"/>
              <a:sym typeface="Tahoma"/>
            </a:endParaRPr>
          </a:p>
          <a:p>
            <a:pPr marL="0" lvl="0" indent="0" algn="just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The following statements are incorrect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scanf(“%d”, a); // Missing &amp;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scanf(“%d”, &amp;a, &amp;b); // Missing %d for variable b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scanf(“%f”, &amp;a); //a is an integer variable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scanf(“%9d”, &amp;a); // not formatted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scanf(“a = %d, b = %d”, &amp;a, &amp;b”);</a:t>
            </a:r>
            <a:endParaRPr/>
          </a:p>
        </p:txBody>
      </p:sp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37</a:t>
            </a:fld>
            <a:r>
              <a:rPr lang="en-US" smtClean="0"/>
              <a:t>/ 39</a:t>
            </a:r>
            <a:endParaRPr lang="en-US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38"/>
          <p:cNvSpPr txBox="1"/>
          <p:nvPr/>
        </p:nvSpPr>
        <p:spPr>
          <a:xfrm>
            <a:off x="337943" y="255556"/>
            <a:ext cx="8945906" cy="943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lang="en-US" sz="32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Statements in C programming language</a:t>
            </a:r>
            <a:endParaRPr/>
          </a:p>
        </p:txBody>
      </p:sp>
      <p:sp>
        <p:nvSpPr>
          <p:cNvPr id="525" name="Google Shape;525;p38"/>
          <p:cNvSpPr txBox="1">
            <a:spLocks noGrp="1"/>
          </p:cNvSpPr>
          <p:nvPr>
            <p:ph type="body" idx="1"/>
          </p:nvPr>
        </p:nvSpPr>
        <p:spPr>
          <a:xfrm>
            <a:off x="107576" y="1195251"/>
            <a:ext cx="11908716" cy="52055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Functions in the math library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>
              <a:latin typeface="Tahoma"/>
              <a:ea typeface="Tahoma"/>
              <a:cs typeface="Tahoma"/>
              <a:sym typeface="Tahoma"/>
            </a:endParaRPr>
          </a:p>
          <a:p>
            <a:pPr marL="0" lvl="0" indent="0" algn="just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#include &lt;math.h&gt;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1 argument: double, Return value: double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acos, asin, atan, cos, sin, …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exp, log, log10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sqrt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ceil, floor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abs, fabs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2 arguments : double, Return value: double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ahoma"/>
                <a:ea typeface="Tahoma"/>
                <a:cs typeface="Tahoma"/>
                <a:sym typeface="Tahoma"/>
              </a:rPr>
              <a:t>double pow(double x, double y)</a:t>
            </a:r>
            <a:endParaRPr/>
          </a:p>
        </p:txBody>
      </p:sp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38</a:t>
            </a:fld>
            <a:r>
              <a:rPr lang="en-US" smtClean="0"/>
              <a:t>/ 39</a:t>
            </a:r>
            <a:endParaRPr lang="en-US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81150" y="4709014"/>
            <a:ext cx="8267700" cy="1600200"/>
          </a:xfrm>
        </p:spPr>
        <p:txBody>
          <a:bodyPr/>
          <a:lstStyle/>
          <a:p>
            <a:pPr marL="0" indent="0">
              <a:buNone/>
            </a:pPr>
            <a:r>
              <a:rPr lang="en-US" sz="4800" dirty="0"/>
              <a:t>Thank for your attention</a:t>
            </a:r>
            <a:endParaRPr lang="en-US" sz="4800" dirty="0"/>
          </a:p>
        </p:txBody>
      </p:sp>
      <p:pic>
        <p:nvPicPr>
          <p:cNvPr id="1026" name="Picture 2" descr="Autum, colorful, tree, bank, bench, nature, park, HD wallpaper | Peakpx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-28903"/>
            <a:ext cx="6781800" cy="45129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1212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2294</Words>
  <Application>Microsoft Office PowerPoint</Application>
  <PresentationFormat>Widescreen</PresentationFormat>
  <Paragraphs>582</Paragraphs>
  <Slides>39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4" baseType="lpstr">
      <vt:lpstr>Arial</vt:lpstr>
      <vt:lpstr>Calibri</vt:lpstr>
      <vt:lpstr>Tahoma</vt:lpstr>
      <vt:lpstr>Noto Sans Symbols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TienNV</dc:creator>
  <cp:lastModifiedBy>Admin</cp:lastModifiedBy>
  <cp:revision>1</cp:revision>
  <dcterms:created xsi:type="dcterms:W3CDTF">2020-01-24T03:33:28Z</dcterms:created>
  <dcterms:modified xsi:type="dcterms:W3CDTF">2024-05-08T06:06:03Z</dcterms:modified>
</cp:coreProperties>
</file>